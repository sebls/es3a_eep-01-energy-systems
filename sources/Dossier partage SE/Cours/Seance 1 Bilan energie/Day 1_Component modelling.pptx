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1" r:id="rId3"/>
    <p:sldId id="272" r:id="rId4"/>
    <p:sldId id="273" r:id="rId5"/>
    <p:sldId id="259" r:id="rId6"/>
    <p:sldId id="270" r:id="rId7"/>
    <p:sldId id="261" r:id="rId8"/>
    <p:sldId id="260" r:id="rId9"/>
    <p:sldId id="262" r:id="rId10"/>
    <p:sldId id="263" r:id="rId11"/>
    <p:sldId id="264" r:id="rId12"/>
    <p:sldId id="266" r:id="rId13"/>
    <p:sldId id="276" r:id="rId14"/>
    <p:sldId id="277" r:id="rId15"/>
    <p:sldId id="278" r:id="rId16"/>
    <p:sldId id="274" r:id="rId17"/>
    <p:sldId id="269" r:id="rId18"/>
  </p:sldIdLst>
  <p:sldSz cx="9144000" cy="6858000" type="screen4x3"/>
  <p:notesSz cx="6858000" cy="9144000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56">
          <p15:clr>
            <a:srgbClr val="A4A3A4"/>
          </p15:clr>
        </p15:guide>
        <p15:guide id="3" orient="horz" pos="2596">
          <p15:clr>
            <a:srgbClr val="A4A3A4"/>
          </p15:clr>
        </p15:guide>
        <p15:guide id="4" pos="2881">
          <p15:clr>
            <a:srgbClr val="A4A3A4"/>
          </p15:clr>
        </p15:guide>
        <p15:guide id="5" pos="113">
          <p15:clr>
            <a:srgbClr val="A4A3A4"/>
          </p15:clr>
        </p15:guide>
        <p15:guide id="6" pos="5648">
          <p15:clr>
            <a:srgbClr val="A4A3A4"/>
          </p15:clr>
        </p15:guide>
        <p15:guide id="7" pos="3958">
          <p15:clr>
            <a:srgbClr val="A4A3A4"/>
          </p15:clr>
        </p15:guide>
        <p15:guide id="8" pos="41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9E"/>
    <a:srgbClr val="9C9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8889" autoAdjust="0"/>
  </p:normalViewPr>
  <p:slideViewPr>
    <p:cSldViewPr snapToGrid="0" snapToObjects="1">
      <p:cViewPr varScale="1">
        <p:scale>
          <a:sx n="98" d="100"/>
          <a:sy n="98" d="100"/>
        </p:scale>
        <p:origin x="1914" y="90"/>
      </p:cViewPr>
      <p:guideLst>
        <p:guide orient="horz" pos="2160"/>
        <p:guide orient="horz" pos="556"/>
        <p:guide orient="horz" pos="2596"/>
        <p:guide pos="2881"/>
        <p:guide pos="113"/>
        <p:guide pos="5648"/>
        <p:guide pos="3958"/>
        <p:guide pos="41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401A684-92B4-4640-B861-7B4000592903}" type="datetime1">
              <a:rPr lang="fr-FR"/>
              <a:pPr>
                <a:defRPr/>
              </a:pPr>
              <a:t>19/10/2026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B0789C4F-2D15-4C71-B0A3-E3ADE593F79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24B1DE83-2637-4D6B-A1E8-19B1C893CA8F}" type="datetime1">
              <a:rPr lang="fr-FR"/>
              <a:pPr>
                <a:defRPr/>
              </a:pPr>
              <a:t>19/10/2026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B1228F68-81A5-4523-B8EE-0AC3B0187C2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228F68-81A5-4523-B8EE-0AC3B0187C2F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228F68-81A5-4523-B8EE-0AC3B0187C2F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300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 userDrawn="1"/>
        </p:nvCxnSpPr>
        <p:spPr>
          <a:xfrm>
            <a:off x="457200" y="3454400"/>
            <a:ext cx="8509000" cy="1588"/>
          </a:xfrm>
          <a:prstGeom prst="line">
            <a:avLst/>
          </a:prstGeom>
          <a:ln w="6350" cap="flat" cmpd="sng" algn="ctr">
            <a:solidFill>
              <a:srgbClr val="9C9E9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 userDrawn="1"/>
        </p:nvSpPr>
        <p:spPr>
          <a:xfrm>
            <a:off x="179388" y="3884613"/>
            <a:ext cx="179387" cy="179387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858250" y="3205163"/>
            <a:ext cx="107950" cy="1079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>
                <a:solidFill>
                  <a:srgbClr val="FFFFFF"/>
                </a:solidFill>
                <a:ea typeface="ＭＳ Ｐゴシック" charset="-128"/>
              </a:rPr>
              <a:t>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701088" y="3205163"/>
            <a:ext cx="107950" cy="107950"/>
          </a:xfrm>
          <a:prstGeom prst="rect">
            <a:avLst/>
          </a:prstGeom>
          <a:solidFill>
            <a:srgbClr val="9C9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>
                <a:solidFill>
                  <a:srgbClr val="FFFFFF"/>
                </a:solidFill>
                <a:ea typeface="ＭＳ Ｐゴシック" charset="-128"/>
              </a:rPr>
              <a:t> </a:t>
            </a:r>
          </a:p>
        </p:txBody>
      </p:sp>
      <p:pic>
        <p:nvPicPr>
          <p:cNvPr id="7" name="Image 10" descr="Mines ParisTech Logo RVB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73500" y="546100"/>
            <a:ext cx="140017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8000" y="3556312"/>
            <a:ext cx="7772400" cy="615553"/>
          </a:xfrm>
        </p:spPr>
        <p:txBody>
          <a:bodyPr lIns="0" tIns="0" rIns="0" bIns="0" anchor="b">
            <a:noAutofit/>
          </a:bodyPr>
          <a:lstStyle>
            <a:lvl1pPr algn="l">
              <a:defRPr sz="4000">
                <a:solidFill>
                  <a:srgbClr val="005E9E"/>
                </a:solidFill>
                <a:latin typeface="Arial"/>
                <a:cs typeface="Arial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400800" y="3109913"/>
            <a:ext cx="2133600" cy="234950"/>
          </a:xfrm>
        </p:spPr>
        <p:txBody>
          <a:bodyPr lIns="0" tIns="0" rIns="0" bIns="0" anchor="b"/>
          <a:lstStyle>
            <a:lvl1pPr algn="r">
              <a:defRPr>
                <a:solidFill>
                  <a:srgbClr val="9C9E9F"/>
                </a:solidFill>
              </a:defRPr>
            </a:lvl1pPr>
          </a:lstStyle>
          <a:p>
            <a:pPr>
              <a:defRPr/>
            </a:pPr>
            <a:fld id="{221BE6A0-76A7-402C-96FB-8AA654334B77}" type="datetime1">
              <a:rPr lang="fr-FR"/>
              <a:pPr>
                <a:defRPr/>
              </a:pPr>
              <a:t>19/10/2026</a:t>
            </a:fld>
            <a:endParaRPr lang="fr-FR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139BF-F754-49C5-9D32-F2FA785EB4A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ndir un rectangle avec un coin diagonal 4"/>
          <p:cNvSpPr/>
          <p:nvPr userDrawn="1"/>
        </p:nvSpPr>
        <p:spPr>
          <a:xfrm>
            <a:off x="-17463" y="1023938"/>
            <a:ext cx="9296401" cy="5514975"/>
          </a:xfrm>
          <a:prstGeom prst="round2DiagRect">
            <a:avLst/>
          </a:prstGeom>
          <a:noFill/>
          <a:ln>
            <a:solidFill>
              <a:srgbClr val="9C9E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701675"/>
            <a:ext cx="9144000" cy="5264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57200" y="600075"/>
            <a:ext cx="7783513" cy="1588"/>
          </a:xfrm>
          <a:prstGeom prst="line">
            <a:avLst/>
          </a:prstGeom>
          <a:ln w="6350" cap="flat" cmpd="sng" algn="ctr">
            <a:solidFill>
              <a:srgbClr val="9C9E9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 9" descr="Mines ParisTech Logo RVB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440738" y="115888"/>
            <a:ext cx="52546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8000" y="50802"/>
            <a:ext cx="7772400" cy="497020"/>
          </a:xfrm>
        </p:spPr>
        <p:txBody>
          <a:bodyPr lIns="0" tIns="0" rIns="0" bIns="0" anchor="b">
            <a:noAutofit/>
          </a:bodyPr>
          <a:lstStyle>
            <a:lvl1pPr algn="l">
              <a:defRPr sz="3000">
                <a:solidFill>
                  <a:srgbClr val="005E9E"/>
                </a:solidFill>
                <a:latin typeface="Arial"/>
                <a:cs typeface="Arial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9388" y="702193"/>
            <a:ext cx="6102612" cy="212208"/>
          </a:xfrm>
        </p:spPr>
        <p:txBody>
          <a:bodyPr lIns="0" tIns="0" rIns="0" bIns="0" anchor="b">
            <a:noAutofit/>
          </a:bodyPr>
          <a:lstStyle>
            <a:lvl1pPr marL="271463" indent="-271463" algn="l">
              <a:buSzPct val="120000"/>
              <a:buFont typeface="Wingdings" charset="2"/>
              <a:buChar char=""/>
              <a:defRPr sz="1400">
                <a:solidFill>
                  <a:srgbClr val="005E9E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14" name="Espace réservé du contenu 2"/>
          <p:cNvSpPr>
            <a:spLocks noGrp="1"/>
          </p:cNvSpPr>
          <p:nvPr>
            <p:ph idx="13"/>
          </p:nvPr>
        </p:nvSpPr>
        <p:spPr>
          <a:xfrm>
            <a:off x="522000" y="1440000"/>
            <a:ext cx="5760000" cy="4525963"/>
          </a:xfrm>
        </p:spPr>
        <p:txBody>
          <a:bodyPr lIns="0" tIns="0" rIns="0" bIns="0">
            <a:noAutofit/>
          </a:bodyPr>
          <a:lstStyle>
            <a:lvl1pPr marL="271463" indent="-271463">
              <a:buClr>
                <a:srgbClr val="005E9E"/>
              </a:buClr>
              <a:buSzPct val="100000"/>
              <a:buFont typeface="Lucida Grande"/>
              <a:buChar char="•"/>
              <a:defRPr sz="17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1pPr>
            <a:lvl2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2pPr>
            <a:lvl3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3pPr>
            <a:lvl4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4pPr>
            <a:lvl5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4"/>
          </p:nvPr>
        </p:nvSpPr>
        <p:spPr>
          <a:xfrm>
            <a:off x="6832600" y="6297613"/>
            <a:ext cx="2133600" cy="365125"/>
          </a:xfrm>
        </p:spPr>
        <p:txBody>
          <a:bodyPr lIns="0" tIns="0" rIns="0" bIns="0" anchor="b"/>
          <a:lstStyle>
            <a:lvl1pPr>
              <a:defRPr/>
            </a:lvl1pPr>
          </a:lstStyle>
          <a:p>
            <a:pPr>
              <a:defRPr/>
            </a:pPr>
            <a:fld id="{E35655CA-27EC-4F71-A9F3-37494F1A020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307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A2549F7-9FCA-4161-B9C6-BF7B1C29E9EC}" type="datetime1">
              <a:rPr lang="fr-FR"/>
              <a:pPr>
                <a:defRPr/>
              </a:pPr>
              <a:t>19/10/2026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898989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fld id="{E00C0902-9B88-4CB4-8CAA-26A21F7B4E4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19" Type="http://schemas.openxmlformats.org/officeDocument/2006/relationships/image" Target="../media/image10.e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image" Target="../media/image16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image" Target="../media/image21.e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wmf"/><Relationship Id="rId9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22.bin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8.wmf"/><Relationship Id="rId4" Type="http://schemas.openxmlformats.org/officeDocument/2006/relationships/image" Target="../media/image29.png"/><Relationship Id="rId9" Type="http://schemas.openxmlformats.org/officeDocument/2006/relationships/oleObject" Target="../embeddings/oleObject2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35.emf"/><Relationship Id="rId5" Type="http://schemas.openxmlformats.org/officeDocument/2006/relationships/tags" Target="../tags/tag10.xml"/><Relationship Id="rId10" Type="http://schemas.openxmlformats.org/officeDocument/2006/relationships/image" Target="../media/image36.png"/><Relationship Id="rId4" Type="http://schemas.openxmlformats.org/officeDocument/2006/relationships/tags" Target="../tags/tag9.xml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tags" Target="../tags/tag15.xml"/><Relationship Id="rId7" Type="http://schemas.openxmlformats.org/officeDocument/2006/relationships/image" Target="../media/image36.emf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image" Target="../media/image42.emf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oleObject" Target="../embeddings/oleObject28.bin"/><Relationship Id="rId2" Type="http://schemas.openxmlformats.org/officeDocument/2006/relationships/tags" Target="../tags/tag16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43.wmf"/><Relationship Id="rId1" Type="http://schemas.openxmlformats.org/officeDocument/2006/relationships/vmlDrawing" Target="../drawings/vmlDrawing8.v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19" Type="http://schemas.openxmlformats.org/officeDocument/2006/relationships/oleObject" Target="../embeddings/oleObject29.bin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18" Type="http://schemas.openxmlformats.org/officeDocument/2006/relationships/oleObject" Target="../embeddings/oleObject31.bin"/><Relationship Id="rId3" Type="http://schemas.openxmlformats.org/officeDocument/2006/relationships/tags" Target="../tags/tag31.xml"/><Relationship Id="rId21" Type="http://schemas.openxmlformats.org/officeDocument/2006/relationships/image" Target="../media/image50.png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17" Type="http://schemas.openxmlformats.org/officeDocument/2006/relationships/image" Target="../media/image47.emf"/><Relationship Id="rId2" Type="http://schemas.openxmlformats.org/officeDocument/2006/relationships/tags" Target="../tags/tag30.xml"/><Relationship Id="rId16" Type="http://schemas.openxmlformats.org/officeDocument/2006/relationships/oleObject" Target="../embeddings/oleObject30.bin"/><Relationship Id="rId20" Type="http://schemas.openxmlformats.org/officeDocument/2006/relationships/image" Target="../media/image49.png"/><Relationship Id="rId1" Type="http://schemas.openxmlformats.org/officeDocument/2006/relationships/vmlDrawing" Target="../drawings/vmlDrawing9.v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38.xml"/><Relationship Id="rId19" Type="http://schemas.openxmlformats.org/officeDocument/2006/relationships/image" Target="../media/image48.wmf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68000" y="3468902"/>
            <a:ext cx="7772400" cy="769723"/>
          </a:xfrm>
        </p:spPr>
        <p:txBody>
          <a:bodyPr/>
          <a:lstStyle/>
          <a:p>
            <a:r>
              <a:rPr lang="en-US" dirty="0"/>
              <a:t>Component modeling</a:t>
            </a:r>
            <a:endParaRPr lang="en-US" i="1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2019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6E6139BF-F754-49C5-9D32-F2FA785EB4AF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  <p:sp>
        <p:nvSpPr>
          <p:cNvPr id="5" name="ZoneTexte 4"/>
          <p:cNvSpPr txBox="1"/>
          <p:nvPr>
            <p:custDataLst>
              <p:tags r:id="rId4"/>
            </p:custDataLst>
          </p:nvPr>
        </p:nvSpPr>
        <p:spPr>
          <a:xfrm>
            <a:off x="468000" y="3051945"/>
            <a:ext cx="2307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Cong</a:t>
            </a:r>
            <a:r>
              <a:rPr lang="fr-FR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-Toan TRAN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1</a:t>
            </a:r>
            <a:r>
              <a:rPr lang="fr-FR" baseline="30000" dirty="0"/>
              <a:t>er</a:t>
            </a:r>
            <a:r>
              <a:rPr lang="fr-FR" dirty="0"/>
              <a:t> principe de la thermodynamique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/>
              <a:t>Système fermé:  pas de flux de matière au travers de la frontière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954225"/>
            <a:ext cx="5760000" cy="4998900"/>
          </a:xfrm>
        </p:spPr>
        <p:txBody>
          <a:bodyPr/>
          <a:lstStyle/>
          <a:p>
            <a:r>
              <a:rPr lang="fr-FR" dirty="0"/>
              <a:t>Bilan d’énergie (énergies macroscopiques négligées)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Par convention: </a:t>
            </a:r>
          </a:p>
          <a:p>
            <a:pPr lvl="2"/>
            <a:r>
              <a:rPr lang="fr-FR" dirty="0"/>
              <a:t>Chaleur absorbée par le system:		positif</a:t>
            </a:r>
          </a:p>
          <a:p>
            <a:pPr lvl="2"/>
            <a:r>
              <a:rPr lang="fr-FR" dirty="0"/>
              <a:t>Travail produit par le system: 	   		positif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2 types de travail: </a:t>
            </a:r>
          </a:p>
          <a:p>
            <a:pPr lvl="2"/>
            <a:r>
              <a:rPr lang="fr-FR" dirty="0"/>
              <a:t>Travail externe donné par un moyen extérieur</a:t>
            </a:r>
          </a:p>
          <a:p>
            <a:pPr lvl="2"/>
            <a:r>
              <a:rPr lang="fr-FR" dirty="0"/>
              <a:t>Travail de frontière lié à la dilatation du système</a:t>
            </a:r>
          </a:p>
          <a:p>
            <a:pPr lvl="2"/>
            <a:endParaRPr lang="fr-FR" dirty="0"/>
          </a:p>
          <a:p>
            <a:r>
              <a:rPr lang="fr-FR" dirty="0"/>
              <a:t>Pour une évolution à volume constant (isochore):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Pour une évolution à pression constant (</a:t>
            </a:r>
            <a:r>
              <a:rPr lang="fr-FR" dirty="0" err="1"/>
              <a:t>isobar</a:t>
            </a:r>
            <a:r>
              <a:rPr lang="fr-FR" dirty="0"/>
              <a:t>):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  <p:graphicFrame>
        <p:nvGraphicFramePr>
          <p:cNvPr id="12" name="Objet 11"/>
          <p:cNvGraphicFramePr>
            <a:graphicFrameLocks noChangeAspect="1"/>
          </p:cNvGraphicFramePr>
          <p:nvPr/>
        </p:nvGraphicFramePr>
        <p:xfrm>
          <a:off x="2700338" y="1243013"/>
          <a:ext cx="145256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6" name="Equation" r:id="rId3" imgW="812520" imgH="393480" progId="Equation.DSMT4">
                  <p:embed/>
                </p:oleObj>
              </mc:Choice>
              <mc:Fallback>
                <p:oleObj name="Equation" r:id="rId3" imgW="812520" imgH="393480" progId="Equation.DSMT4">
                  <p:embed/>
                  <p:pic>
                    <p:nvPicPr>
                      <p:cNvPr id="12" name="Obje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243013"/>
                        <a:ext cx="1452562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4552512" y="2095500"/>
          <a:ext cx="221100" cy="33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7" name="Equation" r:id="rId5" imgW="152280" imgH="228600" progId="Equation.DSMT4">
                  <p:embed/>
                </p:oleObj>
              </mc:Choice>
              <mc:Fallback>
                <p:oleObj name="Equation" r:id="rId5" imgW="152280" imgH="228600" progId="Equation.DSMT4">
                  <p:embed/>
                  <p:pic>
                    <p:nvPicPr>
                      <p:cNvPr id="20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512" y="2095500"/>
                        <a:ext cx="221100" cy="33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4535050" y="2383175"/>
          <a:ext cx="257950" cy="29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8" name="Equation" r:id="rId7" imgW="177480" imgH="203040" progId="Equation.DSMT4">
                  <p:embed/>
                </p:oleObj>
              </mc:Choice>
              <mc:Fallback>
                <p:oleObj name="Equation" r:id="rId7" imgW="177480" imgH="203040" progId="Equation.DSMT4">
                  <p:embed/>
                  <p:pic>
                    <p:nvPicPr>
                      <p:cNvPr id="20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050" y="2383175"/>
                        <a:ext cx="257950" cy="29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9" name="Object 11"/>
          <p:cNvGraphicFramePr>
            <a:graphicFrameLocks noChangeAspect="1"/>
          </p:cNvGraphicFramePr>
          <p:nvPr/>
        </p:nvGraphicFramePr>
        <p:xfrm>
          <a:off x="6781926" y="3133725"/>
          <a:ext cx="192881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9" name="Equation" r:id="rId9" imgW="1333440" imgH="507960" progId="Equation.DSMT4">
                  <p:embed/>
                </p:oleObj>
              </mc:Choice>
              <mc:Fallback>
                <p:oleObj name="Equation" r:id="rId9" imgW="1333440" imgH="507960" progId="Equation.DSMT4">
                  <p:embed/>
                  <p:pic>
                    <p:nvPicPr>
                      <p:cNvPr id="20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926" y="3133725"/>
                        <a:ext cx="1928812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1" name="Object 13"/>
          <p:cNvGraphicFramePr>
            <a:graphicFrameLocks noChangeAspect="1"/>
          </p:cNvGraphicFramePr>
          <p:nvPr/>
        </p:nvGraphicFramePr>
        <p:xfrm>
          <a:off x="5611108" y="4027414"/>
          <a:ext cx="106521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0" name="Equation" r:id="rId11" imgW="736560" imgH="253800" progId="Equation.DSMT4">
                  <p:embed/>
                </p:oleObj>
              </mc:Choice>
              <mc:Fallback>
                <p:oleObj name="Equation" r:id="rId11" imgW="736560" imgH="253800" progId="Equation.DSMT4">
                  <p:embed/>
                  <p:pic>
                    <p:nvPicPr>
                      <p:cNvPr id="20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108" y="4027414"/>
                        <a:ext cx="1065213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2" name="Object 14"/>
          <p:cNvGraphicFramePr>
            <a:graphicFrameLocks noChangeAspect="1"/>
          </p:cNvGraphicFramePr>
          <p:nvPr/>
        </p:nvGraphicFramePr>
        <p:xfrm>
          <a:off x="2444750" y="4408488"/>
          <a:ext cx="2413975" cy="612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1" name="Equation" r:id="rId13" imgW="1562040" imgH="393480" progId="Equation.DSMT4">
                  <p:embed/>
                </p:oleObj>
              </mc:Choice>
              <mc:Fallback>
                <p:oleObj name="Equation" r:id="rId13" imgW="1562040" imgH="393480" progId="Equation.DSMT4">
                  <p:embed/>
                  <p:pic>
                    <p:nvPicPr>
                      <p:cNvPr id="20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4408488"/>
                        <a:ext cx="2413975" cy="612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3" name="Object 15"/>
          <p:cNvGraphicFramePr>
            <a:graphicFrameLocks noChangeAspect="1"/>
          </p:cNvGraphicFramePr>
          <p:nvPr/>
        </p:nvGraphicFramePr>
        <p:xfrm>
          <a:off x="5484474" y="5286375"/>
          <a:ext cx="15065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2" name="Equation" r:id="rId15" imgW="1041120" imgH="241200" progId="Equation.DSMT4">
                  <p:embed/>
                </p:oleObj>
              </mc:Choice>
              <mc:Fallback>
                <p:oleObj name="Equation" r:id="rId15" imgW="1041120" imgH="241200" progId="Equation.DSMT4">
                  <p:embed/>
                  <p:pic>
                    <p:nvPicPr>
                      <p:cNvPr id="20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474" y="5286375"/>
                        <a:ext cx="1506537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4" name="Object 16"/>
          <p:cNvGraphicFramePr>
            <a:graphicFrameLocks noChangeAspect="1"/>
          </p:cNvGraphicFramePr>
          <p:nvPr/>
        </p:nvGraphicFramePr>
        <p:xfrm>
          <a:off x="2433638" y="5616575"/>
          <a:ext cx="2433199" cy="650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3" name="Equation" r:id="rId17" imgW="1574640" imgH="419040" progId="Equation.DSMT4">
                  <p:embed/>
                </p:oleObj>
              </mc:Choice>
              <mc:Fallback>
                <p:oleObj name="Equation" r:id="rId17" imgW="1574640" imgH="419040" progId="Equation.DSMT4">
                  <p:embed/>
                  <p:pic>
                    <p:nvPicPr>
                      <p:cNvPr id="20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5616575"/>
                        <a:ext cx="2433199" cy="6508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ZoneTexte 18"/>
          <p:cNvSpPr txBox="1"/>
          <p:nvPr/>
        </p:nvSpPr>
        <p:spPr>
          <a:xfrm>
            <a:off x="5611813" y="4581525"/>
            <a:ext cx="3546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/>
              <a:t>(c</a:t>
            </a:r>
            <a:r>
              <a:rPr lang="fr-FR" sz="1400" i="1" baseline="-25000" dirty="0"/>
              <a:t>v</a:t>
            </a:r>
            <a:r>
              <a:rPr lang="fr-FR" sz="1400" i="1" dirty="0"/>
              <a:t>: chaleur spécifique à volume constant )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5621338" y="5829300"/>
            <a:ext cx="36535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/>
              <a:t>(</a:t>
            </a:r>
            <a:r>
              <a:rPr lang="fr-FR" sz="1400" i="1" dirty="0" err="1"/>
              <a:t>c</a:t>
            </a:r>
            <a:r>
              <a:rPr lang="fr-FR" sz="1400" i="1" baseline="-25000" dirty="0" err="1"/>
              <a:t>p</a:t>
            </a:r>
            <a:r>
              <a:rPr lang="fr-FR" sz="1400" i="1" dirty="0"/>
              <a:t>: chaleur spécifique à pression constant )</a:t>
            </a:r>
          </a:p>
        </p:txBody>
      </p:sp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6517230" y="954225"/>
            <a:ext cx="2420395" cy="172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57232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1</a:t>
            </a:r>
            <a:r>
              <a:rPr lang="fr-FR" baseline="30000" dirty="0"/>
              <a:t>er</a:t>
            </a:r>
            <a:r>
              <a:rPr lang="fr-FR" dirty="0"/>
              <a:t> principe de la thermodynamique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Système ouvert: échange de matière possible au travers de la frontière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1280159"/>
            <a:ext cx="5760000" cy="4219079"/>
          </a:xfrm>
        </p:spPr>
        <p:txBody>
          <a:bodyPr/>
          <a:lstStyle/>
          <a:p>
            <a:r>
              <a:rPr lang="fr-FR" dirty="0"/>
              <a:t>Conservation de masse (ou bilan de masse)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Par convention: 		positif, 		négatif</a:t>
            </a:r>
          </a:p>
          <a:p>
            <a:pPr>
              <a:buNone/>
            </a:pPr>
            <a:endParaRPr lang="fr-FR" dirty="0"/>
          </a:p>
          <a:p>
            <a:endParaRPr lang="fr-FR" dirty="0"/>
          </a:p>
          <a:p>
            <a:r>
              <a:rPr lang="fr-FR" dirty="0"/>
              <a:t>Travail d’écoulement d’un fluide entrant ou sortant d’un système: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Conservation d’énergie (ou bilan d’énergie)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graphicFrame>
        <p:nvGraphicFramePr>
          <p:cNvPr id="9" name="Objet 8"/>
          <p:cNvGraphicFramePr>
            <a:graphicFrameLocks noChangeAspect="1"/>
          </p:cNvGraphicFramePr>
          <p:nvPr/>
        </p:nvGraphicFramePr>
        <p:xfrm>
          <a:off x="2644775" y="1554163"/>
          <a:ext cx="198913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6" name="Equation" r:id="rId3" imgW="1231560" imgH="419040" progId="Equation.DSMT4">
                  <p:embed/>
                </p:oleObj>
              </mc:Choice>
              <mc:Fallback>
                <p:oleObj name="Equation" r:id="rId3" imgW="1231560" imgH="419040" progId="Equation.DSMT4">
                  <p:embed/>
                  <p:pic>
                    <p:nvPicPr>
                      <p:cNvPr id="9" name="Obje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775" y="1554163"/>
                        <a:ext cx="1989138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8"/>
          <p:cNvGraphicFramePr>
            <a:graphicFrameLocks noChangeAspect="1"/>
          </p:cNvGraphicFramePr>
          <p:nvPr/>
        </p:nvGraphicFramePr>
        <p:xfrm>
          <a:off x="495300" y="5562600"/>
          <a:ext cx="58229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7" name="Equation" r:id="rId5" imgW="3403440" imgH="482400" progId="Equation.DSMT4">
                  <p:embed/>
                </p:oleObj>
              </mc:Choice>
              <mc:Fallback>
                <p:oleObj name="Equation" r:id="rId5" imgW="3403440" imgH="482400" progId="Equation.DSMT4">
                  <p:embed/>
                  <p:pic>
                    <p:nvPicPr>
                      <p:cNvPr id="30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5562600"/>
                        <a:ext cx="582295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9"/>
          <p:cNvGraphicFramePr>
            <a:graphicFrameLocks noChangeAspect="1"/>
          </p:cNvGraphicFramePr>
          <p:nvPr/>
        </p:nvGraphicFramePr>
        <p:xfrm>
          <a:off x="2757488" y="2152650"/>
          <a:ext cx="3825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8" name="Equation" r:id="rId7" imgW="228600" imgH="228600" progId="Equation.DSMT4">
                  <p:embed/>
                </p:oleObj>
              </mc:Choice>
              <mc:Fallback>
                <p:oleObj name="Equation" r:id="rId7" imgW="228600" imgH="228600" progId="Equation.DSMT4">
                  <p:embed/>
                  <p:pic>
                    <p:nvPicPr>
                      <p:cNvPr id="30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488" y="2152650"/>
                        <a:ext cx="3825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0"/>
          <p:cNvGraphicFramePr>
            <a:graphicFrameLocks noChangeAspect="1"/>
          </p:cNvGraphicFramePr>
          <p:nvPr/>
        </p:nvGraphicFramePr>
        <p:xfrm>
          <a:off x="4117975" y="2143125"/>
          <a:ext cx="4667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9" name="Equation" r:id="rId9" imgW="279360" imgH="228600" progId="Equation.DSMT4">
                  <p:embed/>
                </p:oleObj>
              </mc:Choice>
              <mc:Fallback>
                <p:oleObj name="Equation" r:id="rId9" imgW="279360" imgH="228600" progId="Equation.DSMT4">
                  <p:embed/>
                  <p:pic>
                    <p:nvPicPr>
                      <p:cNvPr id="30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2143125"/>
                        <a:ext cx="46672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3" name="Object 11"/>
          <p:cNvGraphicFramePr>
            <a:graphicFrameLocks noChangeAspect="1"/>
          </p:cNvGraphicFramePr>
          <p:nvPr/>
        </p:nvGraphicFramePr>
        <p:xfrm>
          <a:off x="2513013" y="3724275"/>
          <a:ext cx="30003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0" name="Equation" r:id="rId11" imgW="1752480" imgH="507960" progId="Equation.DSMT4">
                  <p:embed/>
                </p:oleObj>
              </mc:Choice>
              <mc:Fallback>
                <p:oleObj name="Equation" r:id="rId11" imgW="1752480" imgH="507960" progId="Equation.DSMT4">
                  <p:embed/>
                  <p:pic>
                    <p:nvPicPr>
                      <p:cNvPr id="30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3" y="3724275"/>
                        <a:ext cx="3000375" cy="868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ZoneTexte 11"/>
          <p:cNvSpPr txBox="1"/>
          <p:nvPr/>
        </p:nvSpPr>
        <p:spPr>
          <a:xfrm>
            <a:off x="6480683" y="5694144"/>
            <a:ext cx="2656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(les énergies potentielles et cinétiques souvent négligées)</a:t>
            </a:r>
          </a:p>
        </p:txBody>
      </p:sp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282000" y="1819275"/>
            <a:ext cx="266700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43819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2</a:t>
            </a:r>
            <a:r>
              <a:rPr lang="fr-FR" baseline="30000" dirty="0"/>
              <a:t>ème</a:t>
            </a:r>
            <a:r>
              <a:rPr lang="fr-FR" dirty="0"/>
              <a:t> principe de la thermodynamique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1163775"/>
            <a:ext cx="8067818" cy="5103675"/>
          </a:xfrm>
        </p:spPr>
        <p:txBody>
          <a:bodyPr/>
          <a:lstStyle/>
          <a:p>
            <a:r>
              <a:rPr lang="fr-FR" dirty="0"/>
              <a:t>« La chaleur ne passe pas spontanément d’un corps froid sur un corps chaud »</a:t>
            </a:r>
          </a:p>
          <a:p>
            <a:endParaRPr lang="fr-FR" dirty="0"/>
          </a:p>
          <a:p>
            <a:endParaRPr lang="en-US" dirty="0"/>
          </a:p>
          <a:p>
            <a:r>
              <a:rPr lang="fr-FR" dirty="0"/>
              <a:t>Inégalité de Clausius:</a:t>
            </a:r>
          </a:p>
          <a:p>
            <a:pPr lvl="1"/>
            <a:r>
              <a:rPr lang="fr-FR" dirty="0"/>
              <a:t>L’égalité </a:t>
            </a:r>
            <a:r>
              <a:rPr lang="fr-FR" dirty="0">
                <a:sym typeface="Wingdings" pitchFamily="2" charset="2"/>
              </a:rPr>
              <a:t> procédé réversible</a:t>
            </a:r>
          </a:p>
          <a:p>
            <a:pPr lvl="1"/>
            <a:r>
              <a:rPr lang="fr-FR" dirty="0">
                <a:sym typeface="Wingdings" pitchFamily="2" charset="2"/>
              </a:rPr>
              <a:t>Sinon, irréversible</a:t>
            </a:r>
            <a:endParaRPr lang="fr-FR" dirty="0"/>
          </a:p>
          <a:p>
            <a:pPr>
              <a:buNone/>
            </a:pPr>
            <a:endParaRPr lang="fr-FR" dirty="0"/>
          </a:p>
          <a:p>
            <a:r>
              <a:rPr lang="fr-FR" dirty="0"/>
              <a:t>Définition de l’entropie:</a:t>
            </a:r>
          </a:p>
          <a:p>
            <a:pPr lvl="1"/>
            <a:r>
              <a:rPr lang="fr-FR" i="1" dirty="0"/>
              <a:t>s</a:t>
            </a:r>
            <a:r>
              <a:rPr lang="fr-FR" dirty="0"/>
              <a:t> est aussi une variable d’état </a:t>
            </a:r>
          </a:p>
          <a:p>
            <a:pPr lvl="1">
              <a:buNone/>
            </a:pPr>
            <a:endParaRPr lang="en-US" dirty="0"/>
          </a:p>
          <a:p>
            <a:r>
              <a:rPr lang="fr-FR" dirty="0"/>
              <a:t>Principe de la génération d’entropie:</a:t>
            </a:r>
          </a:p>
          <a:p>
            <a:endParaRPr lang="fr-FR" dirty="0"/>
          </a:p>
          <a:p>
            <a:pPr>
              <a:buNone/>
            </a:pPr>
            <a:endParaRPr lang="fr-FR" dirty="0"/>
          </a:p>
          <a:p>
            <a:pPr lvl="1"/>
            <a:r>
              <a:rPr lang="fr-FR" dirty="0"/>
              <a:t>En condition stabilisée: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12" name="Objet 11"/>
          <p:cNvGraphicFramePr>
            <a:graphicFrameLocks noChangeAspect="1"/>
          </p:cNvGraphicFramePr>
          <p:nvPr/>
        </p:nvGraphicFramePr>
        <p:xfrm>
          <a:off x="4748623" y="2189225"/>
          <a:ext cx="966982" cy="611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2" name="Equation" r:id="rId3" imgW="622080" imgH="393480" progId="Equation.DSMT4">
                  <p:embed/>
                </p:oleObj>
              </mc:Choice>
              <mc:Fallback>
                <p:oleObj name="Equation" r:id="rId3" imgW="622080" imgH="393480" progId="Equation.DSMT4">
                  <p:embed/>
                  <p:pic>
                    <p:nvPicPr>
                      <p:cNvPr id="12" name="Obje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8623" y="2189225"/>
                        <a:ext cx="966982" cy="6117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 12"/>
          <p:cNvGraphicFramePr>
            <a:graphicFrameLocks noChangeAspect="1"/>
          </p:cNvGraphicFramePr>
          <p:nvPr/>
        </p:nvGraphicFramePr>
        <p:xfrm>
          <a:off x="4114151" y="3141948"/>
          <a:ext cx="1499808" cy="690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3" name="Equation" r:id="rId5" imgW="965160" imgH="444240" progId="Equation.DSMT4">
                  <p:embed/>
                </p:oleObj>
              </mc:Choice>
              <mc:Fallback>
                <p:oleObj name="Equation" r:id="rId5" imgW="965160" imgH="444240" progId="Equation.DSMT4">
                  <p:embed/>
                  <p:pic>
                    <p:nvPicPr>
                      <p:cNvPr id="13" name="Obje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151" y="3141948"/>
                        <a:ext cx="1499808" cy="6907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 13"/>
          <p:cNvGraphicFramePr>
            <a:graphicFrameLocks noChangeAspect="1"/>
          </p:cNvGraphicFramePr>
          <p:nvPr/>
        </p:nvGraphicFramePr>
        <p:xfrm>
          <a:off x="2517775" y="4311650"/>
          <a:ext cx="2820988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name="Equation" r:id="rId7" imgW="1815840" imgH="419040" progId="Equation.DSMT4">
                  <p:embed/>
                </p:oleObj>
              </mc:Choice>
              <mc:Fallback>
                <p:oleObj name="Equation" r:id="rId7" imgW="1815840" imgH="419040" progId="Equation.DSMT4">
                  <p:embed/>
                  <p:pic>
                    <p:nvPicPr>
                      <p:cNvPr id="14" name="Obje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4311650"/>
                        <a:ext cx="2820988" cy="65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2663969" y="5341092"/>
          <a:ext cx="28432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name="Equation" r:id="rId9" imgW="1828800" imgH="482400" progId="Equation.DSMT4">
                  <p:embed/>
                </p:oleObj>
              </mc:Choice>
              <mc:Fallback>
                <p:oleObj name="Equation" r:id="rId9" imgW="1828800" imgH="482400" progId="Equation.DSMT4">
                  <p:embed/>
                  <p:pic>
                    <p:nvPicPr>
                      <p:cNvPr id="51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969" y="5341092"/>
                        <a:ext cx="2843213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927725" y="3187700"/>
            <a:ext cx="303847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57348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Expansion valve modeling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1173300"/>
            <a:ext cx="5760000" cy="4525963"/>
          </a:xfrm>
        </p:spPr>
        <p:txBody>
          <a:bodyPr/>
          <a:lstStyle/>
          <a:p>
            <a:r>
              <a:rPr lang="en-US" dirty="0"/>
              <a:t>Modeling assumptions:</a:t>
            </a:r>
          </a:p>
          <a:p>
            <a:pPr lvl="1"/>
            <a:r>
              <a:rPr lang="en-US" dirty="0"/>
              <a:t>No mechanical work </a:t>
            </a:r>
            <a:r>
              <a:rPr lang="en-US" dirty="0">
                <a:sym typeface="Wingdings" pitchFamily="2" charset="2"/>
              </a:rPr>
              <a:t> W=0</a:t>
            </a:r>
          </a:p>
          <a:p>
            <a:pPr lvl="1"/>
            <a:r>
              <a:rPr lang="en-US" dirty="0">
                <a:sym typeface="Wingdings" pitchFamily="2" charset="2"/>
              </a:rPr>
              <a:t>Small external surface  Q=0</a:t>
            </a:r>
          </a:p>
          <a:p>
            <a:pPr lvl="1"/>
            <a:r>
              <a:rPr lang="en-US" dirty="0"/>
              <a:t>Small control volume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E</a:t>
            </a:r>
            <a:r>
              <a:rPr lang="en-US" baseline="-25000" dirty="0" err="1">
                <a:sym typeface="Wingdings" pitchFamily="2" charset="2"/>
              </a:rPr>
              <a:t>system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m</a:t>
            </a:r>
            <a:r>
              <a:rPr lang="en-US" baseline="-25000" dirty="0" err="1">
                <a:sym typeface="Wingdings" pitchFamily="2" charset="2"/>
              </a:rPr>
              <a:t>system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neglicted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Kinetic energy neglected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Model:</a:t>
            </a:r>
          </a:p>
          <a:p>
            <a:pPr lvl="1"/>
            <a:r>
              <a:rPr lang="en-US" dirty="0">
                <a:sym typeface="Wingdings" pitchFamily="2" charset="2"/>
              </a:rPr>
              <a:t>Flow rate controlled by the opening level of the valve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2"/>
            <a:r>
              <a:rPr lang="en-US" i="1" dirty="0">
                <a:sym typeface="Wingdings" pitchFamily="2" charset="2"/>
              </a:rPr>
              <a:t>k</a:t>
            </a:r>
            <a:r>
              <a:rPr lang="en-US" dirty="0">
                <a:sym typeface="Wingdings" pitchFamily="2" charset="2"/>
              </a:rPr>
              <a:t>: parameter of the valve, generally determined thanks to nominal working points</a:t>
            </a:r>
          </a:p>
          <a:p>
            <a:pPr lvl="2"/>
            <a:r>
              <a:rPr lang="en-US" i="1" dirty="0">
                <a:sym typeface="Wingdings" pitchFamily="2" charset="2"/>
              </a:rPr>
              <a:t>opening</a:t>
            </a:r>
            <a:r>
              <a:rPr lang="en-US" dirty="0">
                <a:sym typeface="Wingdings" pitchFamily="2" charset="2"/>
              </a:rPr>
              <a:t> : between 0 (closed) and 1 (completely opened)</a:t>
            </a:r>
          </a:p>
          <a:p>
            <a:pPr lvl="2">
              <a:buNone/>
            </a:pPr>
            <a:r>
              <a:rPr lang="en-US" dirty="0">
                <a:sym typeface="Wingdings" pitchFamily="2" charset="2"/>
              </a:rPr>
              <a:t> </a:t>
            </a:r>
          </a:p>
          <a:p>
            <a:pPr lvl="1"/>
            <a:r>
              <a:rPr lang="en-US" dirty="0">
                <a:sym typeface="Wingdings" pitchFamily="2" charset="2"/>
              </a:rPr>
              <a:t>Quasi-isenthalpic expansion process: </a:t>
            </a:r>
          </a:p>
          <a:p>
            <a:pPr lvl="1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/>
        </p:nvGraphicFramePr>
        <p:xfrm>
          <a:off x="7042150" y="5830888"/>
          <a:ext cx="95885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3" imgW="545760" imgH="228600" progId="Equation.DSMT4">
                  <p:embed/>
                </p:oleObj>
              </mc:Choice>
              <mc:Fallback>
                <p:oleObj name="Equation" r:id="rId3" imgW="545760" imgH="228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5830888"/>
                        <a:ext cx="958850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/>
          <p:cNvGraphicFramePr>
            <a:graphicFrameLocks noChangeAspect="1"/>
          </p:cNvGraphicFramePr>
          <p:nvPr/>
        </p:nvGraphicFramePr>
        <p:xfrm>
          <a:off x="2476500" y="3536950"/>
          <a:ext cx="23812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Equation" r:id="rId5" imgW="1396800" imgH="241200" progId="Equation.DSMT4">
                  <p:embed/>
                </p:oleObj>
              </mc:Choice>
              <mc:Fallback>
                <p:oleObj name="Equation" r:id="rId5" imgW="139680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3536950"/>
                        <a:ext cx="238125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869950" y="5624513"/>
          <a:ext cx="43846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7" imgW="2565360" imgH="482400" progId="Equation.DSMT4">
                  <p:embed/>
                </p:oleObj>
              </mc:Choice>
              <mc:Fallback>
                <p:oleObj name="Equation" r:id="rId7" imgW="2565360" imgH="4824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5624513"/>
                        <a:ext cx="4384675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5" name="Picture 9" descr="Afficher l'image d'origine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822894" y="956829"/>
            <a:ext cx="3155112" cy="2785513"/>
          </a:xfrm>
          <a:prstGeom prst="rect">
            <a:avLst/>
          </a:prstGeom>
          <a:noFill/>
        </p:spPr>
      </p:pic>
      <p:sp>
        <p:nvSpPr>
          <p:cNvPr id="13" name="Flèche droite 12"/>
          <p:cNvSpPr/>
          <p:nvPr/>
        </p:nvSpPr>
        <p:spPr>
          <a:xfrm>
            <a:off x="5832418" y="5931467"/>
            <a:ext cx="725683" cy="2547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Closed tank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1124744"/>
            <a:ext cx="5760000" cy="4841219"/>
          </a:xfrm>
        </p:spPr>
        <p:txBody>
          <a:bodyPr/>
          <a:lstStyle/>
          <a:p>
            <a:r>
              <a:rPr lang="en-US" dirty="0"/>
              <a:t>Modeling assumptions:</a:t>
            </a:r>
          </a:p>
          <a:p>
            <a:pPr lvl="1"/>
            <a:r>
              <a:rPr lang="en-US" dirty="0"/>
              <a:t>No mechanical work </a:t>
            </a:r>
            <a:r>
              <a:rPr lang="en-US" dirty="0">
                <a:sym typeface="Wingdings" pitchFamily="2" charset="2"/>
              </a:rPr>
              <a:t> W=0</a:t>
            </a:r>
          </a:p>
          <a:p>
            <a:pPr lvl="1"/>
            <a:r>
              <a:rPr lang="en-US" dirty="0">
                <a:sym typeface="Wingdings" pitchFamily="2" charset="2"/>
              </a:rPr>
              <a:t>Kinetic and potential energies neglected</a:t>
            </a:r>
          </a:p>
          <a:p>
            <a:pPr lvl="1"/>
            <a:r>
              <a:rPr lang="en-US" i="1" dirty="0"/>
              <a:t>Small control volume </a:t>
            </a:r>
            <a:r>
              <a:rPr lang="en-US" i="1" dirty="0">
                <a:sym typeface="Wingdings" pitchFamily="2" charset="2"/>
              </a:rPr>
              <a:t>?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i="1" dirty="0">
                <a:sym typeface="Wingdings" pitchFamily="2" charset="2"/>
              </a:rPr>
              <a:t>Small external surface ?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r>
              <a:rPr lang="en-US" dirty="0"/>
              <a:t>Mass balance: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Energy balance: </a:t>
            </a:r>
          </a:p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pic>
        <p:nvPicPr>
          <p:cNvPr id="6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 cstate="print"/>
          <a:srcRect l="69660" t="34286" r="25736" b="49155"/>
          <a:stretch>
            <a:fillRect/>
          </a:stretch>
        </p:blipFill>
        <p:spPr bwMode="auto">
          <a:xfrm>
            <a:off x="6461423" y="1086644"/>
            <a:ext cx="1368152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1529556" y="4121150"/>
          <a:ext cx="619283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name="Equation" r:id="rId5" imgW="3619440" imgH="482400" progId="Equation.DSMT4">
                  <p:embed/>
                </p:oleObj>
              </mc:Choice>
              <mc:Fallback>
                <p:oleObj name="Equation" r:id="rId5" imgW="3619440" imgH="4824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556" y="4121150"/>
                        <a:ext cx="6192838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3444875" y="5010150"/>
          <a:ext cx="2954338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name="Equation" r:id="rId7" imgW="1726920" imgH="685800" progId="Equation.DSMT4">
                  <p:embed/>
                </p:oleObj>
              </mc:Choice>
              <mc:Fallback>
                <p:oleObj name="Equation" r:id="rId7" imgW="1726920" imgH="685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5010150"/>
                        <a:ext cx="2954338" cy="1173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2997200" y="3011488"/>
          <a:ext cx="16287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Equation" r:id="rId9" imgW="952200" imgH="431640" progId="Equation.DSMT4">
                  <p:embed/>
                </p:oleObj>
              </mc:Choice>
              <mc:Fallback>
                <p:oleObj name="Equation" r:id="rId9" imgW="95220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3011488"/>
                        <a:ext cx="1628775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èche droite 10"/>
          <p:cNvSpPr/>
          <p:nvPr/>
        </p:nvSpPr>
        <p:spPr>
          <a:xfrm>
            <a:off x="2244725" y="5505450"/>
            <a:ext cx="752475" cy="3333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Compression modeling (1)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Ideal and real processes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575" y="1206286"/>
            <a:ext cx="8059256" cy="5091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Compression modeling (2)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Isentropic efficiency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1062182"/>
            <a:ext cx="7190364" cy="5395179"/>
          </a:xfrm>
        </p:spPr>
        <p:txBody>
          <a:bodyPr/>
          <a:lstStyle/>
          <a:p>
            <a:r>
              <a:rPr lang="en-US" dirty="0"/>
              <a:t>Modeling assumptions:</a:t>
            </a:r>
          </a:p>
          <a:p>
            <a:pPr lvl="1"/>
            <a:r>
              <a:rPr lang="en-US" dirty="0">
                <a:sym typeface="Wingdings" pitchFamily="2" charset="2"/>
              </a:rPr>
              <a:t>Small external surface  Q=0</a:t>
            </a:r>
          </a:p>
          <a:p>
            <a:pPr lvl="1"/>
            <a:r>
              <a:rPr lang="en-US" dirty="0"/>
              <a:t>Small internal volume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E</a:t>
            </a:r>
            <a:r>
              <a:rPr lang="en-US" baseline="-25000" dirty="0" err="1">
                <a:sym typeface="Wingdings" pitchFamily="2" charset="2"/>
              </a:rPr>
              <a:t>system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m</a:t>
            </a:r>
            <a:r>
              <a:rPr lang="en-US" baseline="-25000" dirty="0" err="1">
                <a:sym typeface="Wingdings" pitchFamily="2" charset="2"/>
              </a:rPr>
              <a:t>system</a:t>
            </a:r>
            <a:r>
              <a:rPr lang="en-US" dirty="0">
                <a:sym typeface="Wingdings" pitchFamily="2" charset="2"/>
              </a:rPr>
              <a:t> neglected</a:t>
            </a:r>
          </a:p>
          <a:p>
            <a:pPr lvl="1"/>
            <a:r>
              <a:rPr lang="en-US" dirty="0">
                <a:sym typeface="Wingdings" pitchFamily="2" charset="2"/>
              </a:rPr>
              <a:t>Kinetic energy neglected</a:t>
            </a:r>
          </a:p>
          <a:p>
            <a:pPr lvl="1">
              <a:buNone/>
            </a:pP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Model: </a:t>
            </a:r>
          </a:p>
          <a:p>
            <a:pPr lvl="1"/>
            <a:r>
              <a:rPr lang="en-US" dirty="0">
                <a:sym typeface="Wingdings" pitchFamily="2" charset="2"/>
              </a:rPr>
              <a:t>Isentropic efficiency (also called adiabatic efficiency) supposed to be known: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Adiabatic process: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Isentropic efficiency: </a:t>
            </a:r>
          </a:p>
          <a:p>
            <a:pPr lvl="1"/>
            <a:r>
              <a:rPr lang="en-US" dirty="0"/>
              <a:t>For a (liquid) pump : close to 1 (quasi-isentropic)</a:t>
            </a:r>
          </a:p>
          <a:p>
            <a:pPr lvl="1"/>
            <a:r>
              <a:rPr lang="en-US" dirty="0"/>
              <a:t>For a (vapor) compressor: </a:t>
            </a:r>
            <a:r>
              <a:rPr lang="en-US" dirty="0">
                <a:latin typeface="Symbol" pitchFamily="18" charset="2"/>
              </a:rPr>
              <a:t>h</a:t>
            </a:r>
            <a:r>
              <a:rPr lang="en-US" dirty="0"/>
              <a:t> depend essentially on working conditions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latin typeface="Symbol" pitchFamily="18" charset="2"/>
              </a:rPr>
              <a:t>h</a:t>
            </a:r>
            <a:r>
              <a:rPr lang="en-US" dirty="0">
                <a:sym typeface="Wingdings" pitchFamily="2" charset="2"/>
              </a:rPr>
              <a:t>(</a:t>
            </a:r>
            <a:r>
              <a:rPr lang="en-US" dirty="0" err="1">
                <a:sym typeface="Wingdings" pitchFamily="2" charset="2"/>
              </a:rPr>
              <a:t>T,p</a:t>
            </a:r>
            <a:r>
              <a:rPr lang="en-US" dirty="0">
                <a:sym typeface="Wingdings" pitchFamily="2" charset="2"/>
              </a:rPr>
              <a:t>) needs to be known (via experimental tests)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3241675" y="4086225"/>
          <a:ext cx="17383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Equation" r:id="rId4" imgW="1015920" imgH="253800" progId="Equation.DSMT4">
                  <p:embed/>
                </p:oleObj>
              </mc:Choice>
              <mc:Fallback>
                <p:oleObj name="Equation" r:id="rId4" imgW="1015920" imgH="253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75" y="4086225"/>
                        <a:ext cx="1738313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/>
        </p:nvGraphicFramePr>
        <p:xfrm>
          <a:off x="2643188" y="3152775"/>
          <a:ext cx="34036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Equation" r:id="rId6" imgW="2514600" imgH="469800" progId="Equation.DSMT4">
                  <p:embed/>
                </p:oleObj>
              </mc:Choice>
              <mc:Fallback>
                <p:oleObj name="Equation" r:id="rId6" imgW="2514600" imgH="469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3152775"/>
                        <a:ext cx="3403600" cy="636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Compression modeling (3)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to calculate the flow rate ?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1999" y="1195283"/>
            <a:ext cx="7564725" cy="5011187"/>
          </a:xfrm>
        </p:spPr>
        <p:txBody>
          <a:bodyPr/>
          <a:lstStyle/>
          <a:p>
            <a:r>
              <a:rPr lang="en-US" dirty="0"/>
              <a:t>Volume metric type :</a:t>
            </a:r>
          </a:p>
          <a:p>
            <a:pPr lvl="1"/>
            <a:r>
              <a:rPr lang="en-US" dirty="0"/>
              <a:t>Ex: reciprocating and rotary compressors</a:t>
            </a:r>
          </a:p>
          <a:p>
            <a:pPr lvl="1"/>
            <a:r>
              <a:rPr lang="en-US" dirty="0"/>
              <a:t>Rotational speed : number of turns of the rotor per second  </a:t>
            </a:r>
          </a:p>
          <a:p>
            <a:pPr lvl="1"/>
            <a:r>
              <a:rPr lang="en-US" dirty="0" err="1"/>
              <a:t>Flowrate</a:t>
            </a:r>
            <a:r>
              <a:rPr lang="en-US" dirty="0"/>
              <a:t> depends on swept volume V</a:t>
            </a:r>
            <a:r>
              <a:rPr lang="en-US" baseline="-25000" dirty="0"/>
              <a:t>s</a:t>
            </a:r>
            <a:r>
              <a:rPr lang="en-US" dirty="0"/>
              <a:t>, rotational speed and the inlet condition: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Dynamic type :</a:t>
            </a:r>
          </a:p>
          <a:p>
            <a:pPr lvl="1"/>
            <a:r>
              <a:rPr lang="en-US" dirty="0"/>
              <a:t>Ex: Centrifugal compressor</a:t>
            </a:r>
          </a:p>
          <a:p>
            <a:pPr lvl="1"/>
            <a:r>
              <a:rPr lang="en-US" dirty="0"/>
              <a:t>A specific correlation between the </a:t>
            </a:r>
            <a:r>
              <a:rPr lang="en-US" dirty="0" err="1"/>
              <a:t>flowrate</a:t>
            </a:r>
            <a:r>
              <a:rPr lang="en-US" dirty="0"/>
              <a:t> and working conditions is required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Expansion (turbine) modeling can be done using the similar method: </a:t>
            </a:r>
          </a:p>
          <a:p>
            <a:pPr lvl="1"/>
            <a:r>
              <a:rPr lang="en-US" dirty="0"/>
              <a:t>Example of correlation for a centrifuge turbine</a:t>
            </a:r>
          </a:p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/>
        </p:nvGraphicFramePr>
        <p:xfrm>
          <a:off x="3678238" y="2387600"/>
          <a:ext cx="10255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3" imgW="685800" imgH="482400" progId="Equation.DSMT4">
                  <p:embed/>
                </p:oleObj>
              </mc:Choice>
              <mc:Fallback>
                <p:oleObj name="Equation" r:id="rId3" imgW="685800" imgH="4824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2387600"/>
                        <a:ext cx="1025525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2127264" y="5511145"/>
          <a:ext cx="1604596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5" imgW="1129810" imgH="495085" progId="Equation.DSMT4">
                  <p:embed/>
                </p:oleObj>
              </mc:Choice>
              <mc:Fallback>
                <p:oleObj name="Equation" r:id="rId5" imgW="1129810" imgH="495085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64" y="5511145"/>
                        <a:ext cx="1604596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4806650" y="5577820"/>
            <a:ext cx="2343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(K: characteristic constant of the component)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Analysis of heat exchanger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Simplified case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1999" y="914402"/>
            <a:ext cx="8217739" cy="5051562"/>
          </a:xfrm>
        </p:spPr>
        <p:txBody>
          <a:bodyPr/>
          <a:lstStyle/>
          <a:p>
            <a:r>
              <a:rPr lang="en-US" dirty="0"/>
              <a:t>Heat exchanger allow to exchange heat between 2 fluids of different temperatures without mixing them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t 5"/>
              <p:cNvSpPr txBox="1"/>
              <p:nvPr/>
            </p:nvSpPr>
            <p:spPr bwMode="auto">
              <a:xfrm>
                <a:off x="1055687" y="4048125"/>
                <a:ext cx="1983235" cy="2249488"/>
              </a:xfrm>
              <a:prstGeom prst="rect">
                <a:avLst/>
              </a:prstGeom>
              <a:noFill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acc>
                        <m:accPr>
                          <m:chr m:val="̇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  <m:oMath xmlns:m="http://schemas.openxmlformats.org/officeDocument/2006/math"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acc>
                        <m:accPr>
                          <m:chr m:val="̇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𝐶𝑑𝑇</m:t>
                      </m:r>
                    </m:oMath>
                    <m:oMath xmlns:m="http://schemas.openxmlformats.org/officeDocument/2006/math"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acc>
                        <m:accPr>
                          <m:chr m:val="̇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𝑐𝑑𝑡</m:t>
                      </m:r>
                    </m:oMath>
                  </m:oMathPara>
                </a14:m>
                <a:br>
                  <a:rPr lang="fr-F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fr-F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𝑃𝑑𝑥</m:t>
                      </m:r>
                    </m:oMath>
                    <m:oMath xmlns:m="http://schemas.openxmlformats.org/officeDocument/2006/math"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Obje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5687" y="4048125"/>
                <a:ext cx="1983235" cy="22494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4908884" y="1761423"/>
            <a:ext cx="40573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Assumptions: </a:t>
            </a:r>
          </a:p>
          <a:p>
            <a:pPr>
              <a:buFont typeface="Arial" pitchFamily="34" charset="0"/>
              <a:buChar char="•"/>
            </a:pPr>
            <a:r>
              <a:rPr lang="en-US" sz="1400" i="1" dirty="0"/>
              <a:t>Thermodynamics properties being constant</a:t>
            </a:r>
          </a:p>
          <a:p>
            <a:pPr>
              <a:buFont typeface="Arial" pitchFamily="34" charset="0"/>
              <a:buChar char="•"/>
            </a:pPr>
            <a:r>
              <a:rPr lang="en-US" sz="1400" i="1" dirty="0"/>
              <a:t>Wall thickness neglected</a:t>
            </a:r>
          </a:p>
          <a:p>
            <a:pPr>
              <a:buFont typeface="Arial" pitchFamily="34" charset="0"/>
              <a:buChar char="•"/>
            </a:pPr>
            <a:r>
              <a:rPr lang="en-US" sz="1400" i="1" dirty="0"/>
              <a:t>Exchange surfaces with the wall being the same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1"/>
              <p:cNvSpPr txBox="1"/>
              <p:nvPr/>
            </p:nvSpPr>
            <p:spPr bwMode="auto">
              <a:xfrm>
                <a:off x="5186362" y="3570288"/>
                <a:ext cx="3779837" cy="2727325"/>
              </a:xfrm>
              <a:prstGeom prst="rect">
                <a:avLst/>
              </a:prstGeom>
              <a:noFill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den>
                                  </m:f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fr-FR" i="1">
                          <a:solidFill>
                            <a:srgbClr val="7A30A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i="1">
                          <a:solidFill>
                            <a:srgbClr val="7A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br>
                  <a:rPr lang="fr-F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fr-F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fr-F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𝑈𝐴</m:t>
                      </m:r>
                      <m:r>
                        <m:rPr>
                          <m:sty m:val="p"/>
                        </m:rP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fr-FR" i="1">
                          <a:solidFill>
                            <a:srgbClr val="7A30A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7A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7A30A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7A30A0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𝑙𝑒𝑓𝑡</m:t>
                              </m:r>
                            </m:sub>
                          </m:s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𝑟𝑖𝑔h𝑡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𝑙𝑒𝑓𝑡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𝑟𝑖𝑔h𝑡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6362" y="3570288"/>
                <a:ext cx="3779837" cy="27273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>
            <p:custDataLst>
              <p:tags r:id="rId2"/>
            </p:custDataLst>
          </p:nvPr>
        </p:nvSpPr>
        <p:spPr>
          <a:xfrm>
            <a:off x="4906279" y="4471942"/>
            <a:ext cx="1983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>
                <a:solidFill>
                  <a:srgbClr val="7030A0"/>
                </a:solidFill>
              </a:rPr>
              <a:t>temperature difference</a:t>
            </a:r>
          </a:p>
        </p:txBody>
      </p:sp>
      <p:sp>
        <p:nvSpPr>
          <p:cNvPr id="10" name="ZoneTexte 9"/>
          <p:cNvSpPr txBox="1"/>
          <p:nvPr>
            <p:custDataLst>
              <p:tags r:id="rId3"/>
            </p:custDataLst>
          </p:nvPr>
        </p:nvSpPr>
        <p:spPr>
          <a:xfrm>
            <a:off x="4385255" y="5917839"/>
            <a:ext cx="1983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i="1" dirty="0">
                <a:solidFill>
                  <a:srgbClr val="7030A0"/>
                </a:solidFill>
              </a:rPr>
              <a:t>log mean</a:t>
            </a:r>
          </a:p>
          <a:p>
            <a:pPr algn="r"/>
            <a:r>
              <a:rPr lang="en-US" sz="1400" i="1" dirty="0">
                <a:solidFill>
                  <a:srgbClr val="7030A0"/>
                </a:solidFill>
              </a:rPr>
              <a:t>temperature difference</a:t>
            </a:r>
          </a:p>
        </p:txBody>
      </p:sp>
      <p:sp>
        <p:nvSpPr>
          <p:cNvPr id="11" name="Flèche droite 10"/>
          <p:cNvSpPr/>
          <p:nvPr>
            <p:custDataLst>
              <p:tags r:id="rId4"/>
            </p:custDataLst>
          </p:nvPr>
        </p:nvSpPr>
        <p:spPr>
          <a:xfrm>
            <a:off x="3345340" y="4871365"/>
            <a:ext cx="854873" cy="41727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ccolade ouvrante 11"/>
          <p:cNvSpPr/>
          <p:nvPr>
            <p:custDataLst>
              <p:tags r:id="rId5"/>
            </p:custDataLst>
          </p:nvPr>
        </p:nvSpPr>
        <p:spPr>
          <a:xfrm>
            <a:off x="780057" y="4060825"/>
            <a:ext cx="230805" cy="10668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5112327" y="2814590"/>
            <a:ext cx="34405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i="1" dirty="0">
                <a:solidFill>
                  <a:srgbClr val="7030A0"/>
                </a:solidFill>
              </a:rPr>
              <a:t>C, c : </a:t>
            </a:r>
            <a:r>
              <a:rPr lang="fr-FR" sz="1400" i="1" dirty="0" err="1">
                <a:solidFill>
                  <a:srgbClr val="7030A0"/>
                </a:solidFill>
              </a:rPr>
              <a:t>heat</a:t>
            </a:r>
            <a:r>
              <a:rPr lang="fr-FR" sz="1400" i="1" dirty="0">
                <a:solidFill>
                  <a:srgbClr val="7030A0"/>
                </a:solidFill>
              </a:rPr>
              <a:t> </a:t>
            </a:r>
            <a:r>
              <a:rPr lang="fr-FR" sz="1400" i="1" dirty="0" err="1">
                <a:solidFill>
                  <a:srgbClr val="7030A0"/>
                </a:solidFill>
              </a:rPr>
              <a:t>capacity</a:t>
            </a:r>
            <a:r>
              <a:rPr lang="fr-FR" sz="1400" i="1" dirty="0">
                <a:solidFill>
                  <a:srgbClr val="7030A0"/>
                </a:solidFill>
              </a:rPr>
              <a:t> rates (J/K)</a:t>
            </a:r>
          </a:p>
        </p:txBody>
      </p:sp>
      <p:pic>
        <p:nvPicPr>
          <p:cNvPr id="14" name="Picture 14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1"/>
          <a:srcRect/>
          <a:stretch>
            <a:fillRect/>
          </a:stretch>
        </p:blipFill>
        <p:spPr bwMode="auto">
          <a:xfrm>
            <a:off x="468000" y="1540110"/>
            <a:ext cx="3732213" cy="213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Analysis of heat exchanger (2)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Parallel-flow and counter-flow types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5307573"/>
            <a:ext cx="5760000" cy="1225325"/>
          </a:xfrm>
        </p:spPr>
        <p:txBody>
          <a:bodyPr/>
          <a:lstStyle/>
          <a:p>
            <a:r>
              <a:rPr lang="en-US" dirty="0"/>
              <a:t>These results are still correct in the following conditions: </a:t>
            </a:r>
          </a:p>
          <a:p>
            <a:pPr lvl="1"/>
            <a:r>
              <a:rPr lang="en-US" dirty="0"/>
              <a:t>The exchange surfaces are different</a:t>
            </a:r>
          </a:p>
          <a:p>
            <a:pPr lvl="1"/>
            <a:r>
              <a:rPr lang="en-US" dirty="0"/>
              <a:t>The wall conduction is considerable</a:t>
            </a:r>
          </a:p>
          <a:p>
            <a:pPr lvl="1"/>
            <a:r>
              <a:rPr lang="fr-FR" dirty="0" err="1"/>
              <a:t>Counter</a:t>
            </a:r>
            <a:r>
              <a:rPr lang="fr-FR" dirty="0"/>
              <a:t>-flow (</a:t>
            </a:r>
            <a:r>
              <a:rPr lang="fr-FR" dirty="0">
                <a:latin typeface="Symbol" pitchFamily="18" charset="2"/>
              </a:rPr>
              <a:t>a</a:t>
            </a:r>
            <a:r>
              <a:rPr lang="fr-FR" dirty="0"/>
              <a:t>=-1) or </a:t>
            </a:r>
            <a:r>
              <a:rPr lang="fr-FR" dirty="0" err="1"/>
              <a:t>parallel</a:t>
            </a:r>
            <a:r>
              <a:rPr lang="fr-FR" dirty="0"/>
              <a:t>-flow (</a:t>
            </a:r>
            <a:r>
              <a:rPr lang="fr-FR" dirty="0">
                <a:latin typeface="Symbol" pitchFamily="18" charset="2"/>
              </a:rPr>
              <a:t>a</a:t>
            </a:r>
            <a:r>
              <a:rPr lang="fr-FR" dirty="0"/>
              <a:t>=1)</a:t>
            </a:r>
          </a:p>
          <a:p>
            <a:pPr lvl="1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"/>
              <p:cNvSpPr txBox="1"/>
              <p:nvPr/>
            </p:nvSpPr>
            <p:spPr bwMode="auto">
              <a:xfrm>
                <a:off x="5151438" y="3884613"/>
                <a:ext cx="3814762" cy="154413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𝑈𝐴</m:t>
                      </m:r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𝑎𝑣𝑒𝑐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𝑙𝑒𝑓𝑡</m:t>
                              </m:r>
                            </m:sub>
                          </m:s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𝑟𝑖𝑔h𝑡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𝑙𝑒𝑓𝑡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𝑟𝑖𝑔h𝑡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1438" y="3884613"/>
                <a:ext cx="3814762" cy="15441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>
            <p:custDataLst>
              <p:tags r:id="rId1"/>
            </p:custDataLst>
          </p:nvPr>
        </p:nvSpPr>
        <p:spPr>
          <a:xfrm>
            <a:off x="3486364" y="3306487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rgbClr val="7030A0"/>
                </a:solidFill>
                <a:latin typeface="Symbol" pitchFamily="18" charset="2"/>
              </a:rPr>
              <a:t>a</a:t>
            </a:r>
            <a:r>
              <a:rPr lang="fr-FR" sz="1400" dirty="0">
                <a:solidFill>
                  <a:srgbClr val="7030A0"/>
                </a:solidFill>
                <a:latin typeface="Symbol" pitchFamily="18" charset="2"/>
              </a:rPr>
              <a:t> </a:t>
            </a:r>
            <a:r>
              <a:rPr lang="fr-FR" sz="1400" dirty="0">
                <a:solidFill>
                  <a:srgbClr val="7030A0"/>
                </a:solidFill>
              </a:rPr>
              <a:t>= circulation </a:t>
            </a:r>
            <a:r>
              <a:rPr lang="fr-FR" sz="1400" dirty="0" err="1">
                <a:solidFill>
                  <a:srgbClr val="7030A0"/>
                </a:solidFill>
              </a:rPr>
              <a:t>indicator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/>
              <p:cNvSpPr txBox="1"/>
              <p:nvPr/>
            </p:nvSpPr>
            <p:spPr bwMode="auto">
              <a:xfrm>
                <a:off x="672850" y="3749248"/>
                <a:ext cx="4131627" cy="132304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𝑈𝐴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den>
                                  </m:f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fr-F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𝑎𝑣𝑒𝑐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𝑈𝐴</m:t>
                          </m:r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𝐻𝑆</m:t>
                          </m:r>
                        </m:den>
                      </m:f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h𝑠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850" y="3749248"/>
                <a:ext cx="4131627" cy="13230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816677" y="1114202"/>
            <a:ext cx="39878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10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5888831" y="1114202"/>
            <a:ext cx="1887537" cy="192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Heat exchanger modeling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Objective of design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1" y="1087656"/>
            <a:ext cx="7386586" cy="2053358"/>
          </a:xfrm>
        </p:spPr>
        <p:txBody>
          <a:bodyPr/>
          <a:lstStyle/>
          <a:p>
            <a:r>
              <a:rPr lang="en-US" dirty="0"/>
              <a:t>Modeling a heat exchanger depends on the objectives: </a:t>
            </a:r>
          </a:p>
          <a:p>
            <a:pPr lvl="1"/>
            <a:r>
              <a:rPr lang="en-US" dirty="0"/>
              <a:t>Objective of simulation (the system is already existed)</a:t>
            </a:r>
          </a:p>
          <a:p>
            <a:pPr lvl="1"/>
            <a:r>
              <a:rPr lang="en-US" dirty="0"/>
              <a:t>Objective of design (the system is to be sized)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1739" y="3067214"/>
            <a:ext cx="4360261" cy="2210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ZoneTexte 30"/>
          <p:cNvSpPr txBox="1"/>
          <p:nvPr/>
        </p:nvSpPr>
        <p:spPr>
          <a:xfrm>
            <a:off x="4876662" y="4791392"/>
            <a:ext cx="41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1b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952612" y="4779084"/>
            <a:ext cx="41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1a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4886187" y="3507394"/>
            <a:ext cx="41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2a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2943087" y="3502244"/>
            <a:ext cx="41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810947-A8E2-4F83-8B9A-25A0EF6A8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Heat exchanger modeling for design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55D7C1B-74CE-41AB-B236-E9EF6E6E40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E0C523-6D75-4783-9BF8-3B3EFC3BAF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000" y="5839746"/>
            <a:ext cx="4974128" cy="609691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5252C4-AEE8-4834-9C79-ADB5F15956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52FEF623-CCF3-4E65-BD1C-558054442BC4}"/>
                  </a:ext>
                </a:extLst>
              </p:cNvPr>
              <p:cNvSpPr txBox="1"/>
              <p:nvPr/>
            </p:nvSpPr>
            <p:spPr bwMode="auto">
              <a:xfrm>
                <a:off x="5616037" y="1256582"/>
                <a:ext cx="3360425" cy="1728788"/>
              </a:xfrm>
              <a:prstGeom prst="rect">
                <a:avLst/>
              </a:prstGeom>
              <a:noFill/>
              <a:extLst/>
            </p:spPr>
            <p:txBody>
              <a:bodyPr>
                <a:normAutofit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𝑈𝐴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</m:oMath>
                  </m:oMathPara>
                </a14:m>
                <a:br>
                  <a:rPr lang="fr-F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fr-F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fr-F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fr-F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ditional</m:t>
                      </m:r>
                      <m:r>
                        <m:rPr>
                          <m:nor/>
                        </m:rPr>
                        <a:rPr lang="fr-F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Contraint</m:t>
                      </m:r>
                    </m:oMath>
                  </m:oMathPara>
                </a14:m>
                <a:endParaRPr lang="fr-FR" dirty="0"/>
              </a:p>
              <a:p>
                <a:pPr algn="ctr"/>
                <a:r>
                  <a:rPr lang="fr-FR" sz="1600" dirty="0"/>
                  <a:t>(</a:t>
                </a:r>
                <a:r>
                  <a:rPr lang="fr-FR" sz="1600" dirty="0" err="1"/>
                  <a:t>given</a:t>
                </a:r>
                <a:r>
                  <a:rPr lang="fr-FR" sz="1600" dirty="0"/>
                  <a:t> T, </a:t>
                </a:r>
                <a:r>
                  <a:rPr lang="fr-FR" sz="1600" dirty="0" err="1"/>
                  <a:t>pinch</a:t>
                </a:r>
                <a:r>
                  <a:rPr lang="fr-FR" sz="1600" dirty="0"/>
                  <a:t>, …)</a:t>
                </a:r>
                <a:endParaRPr lang="fr-FR" dirty="0"/>
              </a:p>
            </p:txBody>
          </p:sp>
        </mc:Choice>
        <mc:Fallback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52FEF623-CCF3-4E65-BD1C-558054442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6037" y="1256582"/>
                <a:ext cx="3360425" cy="1728788"/>
              </a:xfrm>
              <a:prstGeom prst="rect">
                <a:avLst/>
              </a:prstGeom>
              <a:blipFill>
                <a:blip r:embed="rId2"/>
                <a:stretch>
                  <a:fillRect b="-2113"/>
                </a:stretch>
              </a:blipFill>
              <a:extLst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A165EBD0-031A-432E-9C4B-0BAAB25177D9}"/>
              </a:ext>
            </a:extLst>
          </p:cNvPr>
          <p:cNvSpPr/>
          <p:nvPr/>
        </p:nvSpPr>
        <p:spPr>
          <a:xfrm>
            <a:off x="6486913" y="3620923"/>
            <a:ext cx="1702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UA calculated</a:t>
            </a:r>
          </a:p>
        </p:txBody>
      </p:sp>
      <p:sp>
        <p:nvSpPr>
          <p:cNvPr id="8" name="Flèche vers le bas 24">
            <a:extLst>
              <a:ext uri="{FF2B5EF4-FFF2-40B4-BE49-F238E27FC236}">
                <a16:creationId xmlns:a16="http://schemas.microsoft.com/office/drawing/2014/main" id="{54404DDC-19B6-46C0-84CC-A6B172CCCE30}"/>
              </a:ext>
            </a:extLst>
          </p:cNvPr>
          <p:cNvSpPr/>
          <p:nvPr/>
        </p:nvSpPr>
        <p:spPr>
          <a:xfrm>
            <a:off x="7080347" y="2984318"/>
            <a:ext cx="442762" cy="54775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èche vers le bas 24">
            <a:extLst>
              <a:ext uri="{FF2B5EF4-FFF2-40B4-BE49-F238E27FC236}">
                <a16:creationId xmlns:a16="http://schemas.microsoft.com/office/drawing/2014/main" id="{873BF9C1-888F-4A23-AF52-902F2FC54B61}"/>
              </a:ext>
            </a:extLst>
          </p:cNvPr>
          <p:cNvSpPr/>
          <p:nvPr/>
        </p:nvSpPr>
        <p:spPr>
          <a:xfrm>
            <a:off x="7067012" y="4078049"/>
            <a:ext cx="442762" cy="54775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41C17C-06A7-4EB3-A853-369623C3E253}"/>
              </a:ext>
            </a:extLst>
          </p:cNvPr>
          <p:cNvSpPr/>
          <p:nvPr/>
        </p:nvSpPr>
        <p:spPr>
          <a:xfrm>
            <a:off x="5382992" y="4720975"/>
            <a:ext cx="35763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/>
              <a:t>A, a calculated</a:t>
            </a:r>
          </a:p>
          <a:p>
            <a:pPr algn="ctr"/>
            <a:r>
              <a:rPr lang="en-US" sz="1600" i="1" dirty="0"/>
              <a:t>For given U, u </a:t>
            </a:r>
          </a:p>
          <a:p>
            <a:pPr algn="ctr"/>
            <a:r>
              <a:rPr lang="en-US" sz="1600" i="1" dirty="0"/>
              <a:t>and surface ratio A/a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357BF9F1-C8B0-4278-9968-610C8B462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3003" y="2303639"/>
            <a:ext cx="4360261" cy="2210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6CEDEF9-F82B-4244-B593-63E29DE19FBC}"/>
              </a:ext>
            </a:extLst>
          </p:cNvPr>
          <p:cNvSpPr txBox="1"/>
          <p:nvPr/>
        </p:nvSpPr>
        <p:spPr>
          <a:xfrm>
            <a:off x="3967926" y="4027817"/>
            <a:ext cx="41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1b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E30B39E-E76C-4DB2-95DB-52D7E9EDD662}"/>
              </a:ext>
            </a:extLst>
          </p:cNvPr>
          <p:cNvSpPr txBox="1"/>
          <p:nvPr/>
        </p:nvSpPr>
        <p:spPr>
          <a:xfrm>
            <a:off x="2043876" y="4015509"/>
            <a:ext cx="41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1a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AD3BEB7-6B7A-4B91-BB55-4BE315A1D24E}"/>
              </a:ext>
            </a:extLst>
          </p:cNvPr>
          <p:cNvSpPr txBox="1"/>
          <p:nvPr/>
        </p:nvSpPr>
        <p:spPr>
          <a:xfrm>
            <a:off x="3977451" y="2743819"/>
            <a:ext cx="41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2a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95500B0-25BF-4504-825A-BE291566D3F1}"/>
              </a:ext>
            </a:extLst>
          </p:cNvPr>
          <p:cNvSpPr txBox="1"/>
          <p:nvPr/>
        </p:nvSpPr>
        <p:spPr>
          <a:xfrm>
            <a:off x="2034351" y="2738669"/>
            <a:ext cx="41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2b</a:t>
            </a:r>
          </a:p>
        </p:txBody>
      </p:sp>
    </p:spTree>
    <p:extLst>
      <p:ext uri="{BB962C8B-B14F-4D97-AF65-F5344CB8AC3E}">
        <p14:creationId xmlns:p14="http://schemas.microsoft.com/office/powerpoint/2010/main" val="351238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C44409-13BD-4E01-BB8D-FB12424A0F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Pinch</a:t>
            </a:r>
            <a:r>
              <a:rPr lang="fr-FR" dirty="0"/>
              <a:t> of a </a:t>
            </a:r>
            <a:r>
              <a:rPr lang="fr-FR" dirty="0" err="1"/>
              <a:t>heat</a:t>
            </a:r>
            <a:r>
              <a:rPr lang="fr-FR" dirty="0"/>
              <a:t> </a:t>
            </a:r>
            <a:r>
              <a:rPr lang="fr-FR" dirty="0" err="1"/>
              <a:t>exchanger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BE2933F-6550-4721-833A-E63D657FFA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7B794D-7266-414F-A8AA-735CD216012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000" y="4817073"/>
            <a:ext cx="8232894" cy="1661548"/>
          </a:xfrm>
        </p:spPr>
        <p:txBody>
          <a:bodyPr/>
          <a:lstStyle/>
          <a:p>
            <a:r>
              <a:rPr lang="en-US" dirty="0"/>
              <a:t>Pinch is defined as the minimum difference of the 2 fluid temperatures along the HEX</a:t>
            </a:r>
          </a:p>
          <a:p>
            <a:pPr lvl="1"/>
            <a:r>
              <a:rPr lang="en-US" dirty="0"/>
              <a:t>In the case of no phase change, the pinch location is at one of two sides of the HEX</a:t>
            </a:r>
          </a:p>
          <a:p>
            <a:pPr lvl="1"/>
            <a:endParaRPr lang="en-US" dirty="0"/>
          </a:p>
          <a:p>
            <a:r>
              <a:rPr lang="en-US" dirty="0"/>
              <a:t>Pinch value results from the HEX surface (i.e. the HEX cost)</a:t>
            </a:r>
          </a:p>
          <a:p>
            <a:pPr lvl="1"/>
            <a:r>
              <a:rPr lang="en-US" dirty="0"/>
              <a:t>In practice, a HEX is sized by fixing a pinch value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8441CA6-92DB-4DB8-9E5F-33F31837CA2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DEA1E37-DDC3-49FC-8FF8-584402752831}"/>
              </a:ext>
            </a:extLst>
          </p:cNvPr>
          <p:cNvGrpSpPr/>
          <p:nvPr/>
        </p:nvGrpSpPr>
        <p:grpSpPr>
          <a:xfrm>
            <a:off x="1677759" y="1065948"/>
            <a:ext cx="5654675" cy="3702467"/>
            <a:chOff x="393700" y="1065948"/>
            <a:chExt cx="5654675" cy="3702467"/>
          </a:xfrm>
        </p:grpSpPr>
        <p:graphicFrame>
          <p:nvGraphicFramePr>
            <p:cNvPr id="7" name="Object 1">
              <a:extLst>
                <a:ext uri="{FF2B5EF4-FFF2-40B4-BE49-F238E27FC236}">
                  <a16:creationId xmlns:a16="http://schemas.microsoft.com/office/drawing/2014/main" id="{1DAB4CED-4802-4FA7-967C-BB26B5660C48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"/>
              </p:custDataLst>
              <p:extLst>
                <p:ext uri="{D42A27DB-BD31-4B8C-83A1-F6EECF244321}">
                  <p14:modId xmlns:p14="http://schemas.microsoft.com/office/powerpoint/2010/main" val="4282329899"/>
                </p:ext>
              </p:extLst>
            </p:nvPr>
          </p:nvGraphicFramePr>
          <p:xfrm>
            <a:off x="393700" y="1065948"/>
            <a:ext cx="5035550" cy="3363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0" name="Feuille de calcul" r:id="rId17" imgW="4385520" imgH="2340720" progId="Excel.Sheet.8">
                    <p:embed/>
                  </p:oleObj>
                </mc:Choice>
                <mc:Fallback>
                  <p:oleObj name="Feuille de calcul" r:id="rId17" imgW="4385520" imgH="2340720" progId="Excel.Sheet.8">
                    <p:embed/>
                    <p:pic>
                      <p:nvPicPr>
                        <p:cNvPr id="6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700" y="1065948"/>
                          <a:ext cx="5035550" cy="3363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45">
              <a:extLst>
                <a:ext uri="{FF2B5EF4-FFF2-40B4-BE49-F238E27FC236}">
                  <a16:creationId xmlns:a16="http://schemas.microsoft.com/office/drawing/2014/main" id="{46F678E2-423B-405B-BA4E-235205AB18E6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019175" y="1332648"/>
              <a:ext cx="46679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fr-FR" sz="2000" b="1" dirty="0">
                  <a:solidFill>
                    <a:srgbClr val="FF5050"/>
                  </a:solidFill>
                  <a:latin typeface="Comic Sans MS" pitchFamily="66" charset="0"/>
                </a:rPr>
                <a:t>T</a:t>
              </a:r>
              <a:r>
                <a:rPr lang="fr-FR" sz="2000" b="1" baseline="-25000" dirty="0">
                  <a:solidFill>
                    <a:srgbClr val="FF5050"/>
                  </a:solidFill>
                  <a:latin typeface="Comic Sans MS" pitchFamily="66" charset="0"/>
                </a:rPr>
                <a:t>0</a:t>
              </a:r>
              <a:endParaRPr lang="fr-FR" sz="2000" b="1" dirty="0">
                <a:latin typeface="Comic Sans MS" pitchFamily="66" charset="0"/>
              </a:endParaRPr>
            </a:p>
          </p:txBody>
        </p:sp>
        <p:sp>
          <p:nvSpPr>
            <p:cNvPr id="9" name="Text Box 46">
              <a:extLst>
                <a:ext uri="{FF2B5EF4-FFF2-40B4-BE49-F238E27FC236}">
                  <a16:creationId xmlns:a16="http://schemas.microsoft.com/office/drawing/2014/main" id="{5A7CAC6E-FA8C-4C76-A366-D3A575EBA791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076325" y="2656623"/>
              <a:ext cx="40908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fr-FR" sz="2000" b="1">
                  <a:solidFill>
                    <a:srgbClr val="0000FF"/>
                  </a:solidFill>
                  <a:latin typeface="Comic Sans MS" pitchFamily="66" charset="0"/>
                </a:rPr>
                <a:t>t</a:t>
              </a:r>
              <a:r>
                <a:rPr lang="fr-FR" sz="2000" b="1" baseline="-25000">
                  <a:solidFill>
                    <a:srgbClr val="0000FF"/>
                  </a:solidFill>
                  <a:latin typeface="Comic Sans MS" pitchFamily="66" charset="0"/>
                </a:rPr>
                <a:t>0</a:t>
              </a:r>
              <a:endParaRPr lang="fr-FR" sz="2000" b="1">
                <a:solidFill>
                  <a:srgbClr val="0000FF"/>
                </a:solidFill>
                <a:latin typeface="Comic Sans MS" pitchFamily="66" charset="0"/>
              </a:endParaRPr>
            </a:p>
          </p:txBody>
        </p:sp>
        <p:sp>
          <p:nvSpPr>
            <p:cNvPr id="10" name="Text Box 47">
              <a:extLst>
                <a:ext uri="{FF2B5EF4-FFF2-40B4-BE49-F238E27FC236}">
                  <a16:creationId xmlns:a16="http://schemas.microsoft.com/office/drawing/2014/main" id="{21BE0201-C0C8-46EB-A175-195223A98BA9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981575" y="4429861"/>
              <a:ext cx="298480" cy="33855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fr-FR" sz="1600" dirty="0">
                  <a:latin typeface="Comic Sans MS" pitchFamily="66" charset="0"/>
                </a:rPr>
                <a:t>L</a:t>
              </a:r>
            </a:p>
          </p:txBody>
        </p:sp>
        <p:sp>
          <p:nvSpPr>
            <p:cNvPr id="11" name="Text Box 48">
              <a:extLst>
                <a:ext uri="{FF2B5EF4-FFF2-40B4-BE49-F238E27FC236}">
                  <a16:creationId xmlns:a16="http://schemas.microsoft.com/office/drawing/2014/main" id="{011B40BD-8495-4751-9A7A-B3C8C89F7451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657725" y="2285148"/>
              <a:ext cx="609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r-FR" sz="2000" b="1" dirty="0">
                  <a:solidFill>
                    <a:srgbClr val="FF5050"/>
                  </a:solidFill>
                  <a:latin typeface="Comic Sans MS" pitchFamily="66" charset="0"/>
                </a:rPr>
                <a:t>T</a:t>
              </a:r>
              <a:r>
                <a:rPr lang="fr-FR" sz="2000" b="1" baseline="-25000" dirty="0">
                  <a:solidFill>
                    <a:srgbClr val="FF5050"/>
                  </a:solidFill>
                  <a:latin typeface="Comic Sans MS" pitchFamily="66" charset="0"/>
                </a:rPr>
                <a:t>L</a:t>
              </a:r>
              <a:endParaRPr lang="fr-FR" sz="2000" b="1" dirty="0">
                <a:latin typeface="Comic Sans MS" pitchFamily="66" charset="0"/>
              </a:endParaRPr>
            </a:p>
          </p:txBody>
        </p:sp>
        <p:sp>
          <p:nvSpPr>
            <p:cNvPr id="12" name="Text Box 49">
              <a:extLst>
                <a:ext uri="{FF2B5EF4-FFF2-40B4-BE49-F238E27FC236}">
                  <a16:creationId xmlns:a16="http://schemas.microsoft.com/office/drawing/2014/main" id="{B7BD28DA-6BDC-46DA-AB9D-BED411AFE0FF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829175" y="3278923"/>
              <a:ext cx="533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r-FR" sz="2000" b="1">
                  <a:solidFill>
                    <a:srgbClr val="0000FF"/>
                  </a:solidFill>
                  <a:latin typeface="Comic Sans MS" pitchFamily="66" charset="0"/>
                </a:rPr>
                <a:t>t</a:t>
              </a:r>
              <a:r>
                <a:rPr lang="fr-FR" sz="2000" b="1" baseline="-25000">
                  <a:solidFill>
                    <a:srgbClr val="0000FF"/>
                  </a:solidFill>
                  <a:latin typeface="Comic Sans MS" pitchFamily="66" charset="0"/>
                </a:rPr>
                <a:t>L</a:t>
              </a:r>
              <a:endParaRPr lang="fr-FR" sz="2000" b="1">
                <a:solidFill>
                  <a:srgbClr val="0000FF"/>
                </a:solidFill>
                <a:latin typeface="Comic Sans MS" pitchFamily="66" charset="0"/>
              </a:endParaRPr>
            </a:p>
          </p:txBody>
        </p:sp>
        <p:sp>
          <p:nvSpPr>
            <p:cNvPr id="13" name="Line 50">
              <a:extLst>
                <a:ext uri="{FF2B5EF4-FFF2-40B4-BE49-F238E27FC236}">
                  <a16:creationId xmlns:a16="http://schemas.microsoft.com/office/drawing/2014/main" id="{426ACBE7-F36B-44CE-829C-4C9C31F3951A}"/>
                </a:ext>
              </a:extLst>
            </p:cNvPr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2845088" y="2285148"/>
              <a:ext cx="304800" cy="76200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 type="triangle" w="lg" len="lg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" name="Line 51">
              <a:extLst>
                <a:ext uri="{FF2B5EF4-FFF2-40B4-BE49-F238E27FC236}">
                  <a16:creationId xmlns:a16="http://schemas.microsoft.com/office/drawing/2014/main" id="{6C13C989-A6BD-4709-9C6C-0C561A353460}"/>
                </a:ext>
              </a:extLst>
            </p:cNvPr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rot="876898" flipH="1">
              <a:off x="2688005" y="3008171"/>
              <a:ext cx="304800" cy="7620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lg" len="lg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" name="Line 52">
              <a:extLst>
                <a:ext uri="{FF2B5EF4-FFF2-40B4-BE49-F238E27FC236}">
                  <a16:creationId xmlns:a16="http://schemas.microsoft.com/office/drawing/2014/main" id="{29744BEB-C9E3-4611-9F1F-18BAA7865811}"/>
                </a:ext>
              </a:extLst>
            </p:cNvPr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5210175" y="2837598"/>
              <a:ext cx="762000" cy="152400"/>
            </a:xfrm>
            <a:prstGeom prst="line">
              <a:avLst/>
            </a:prstGeom>
            <a:noFill/>
            <a:ln w="28575">
              <a:solidFill>
                <a:srgbClr val="FF505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" name="Line 53">
              <a:extLst>
                <a:ext uri="{FF2B5EF4-FFF2-40B4-BE49-F238E27FC236}">
                  <a16:creationId xmlns:a16="http://schemas.microsoft.com/office/drawing/2014/main" id="{89E8A5CB-D51E-45EE-B608-4D5E6D54B746}"/>
                </a:ext>
              </a:extLst>
            </p:cNvPr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5210175" y="3104298"/>
              <a:ext cx="8382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" name="Line 54">
              <a:extLst>
                <a:ext uri="{FF2B5EF4-FFF2-40B4-BE49-F238E27FC236}">
                  <a16:creationId xmlns:a16="http://schemas.microsoft.com/office/drawing/2014/main" id="{4E16C91D-5A98-4FB7-8278-146E3AAFDC4A}"/>
                </a:ext>
              </a:extLst>
            </p:cNvPr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990600" y="1675548"/>
              <a:ext cx="0" cy="959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" name="Text Box 55">
              <a:extLst>
                <a:ext uri="{FF2B5EF4-FFF2-40B4-BE49-F238E27FC236}">
                  <a16:creationId xmlns:a16="http://schemas.microsoft.com/office/drawing/2014/main" id="{1E128276-BED8-4AA7-BF3B-24C835177AF2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03225" y="1977173"/>
              <a:ext cx="77787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r-FR" b="1" dirty="0">
                  <a:latin typeface="Symbol" pitchFamily="18" charset="2"/>
                </a:rPr>
                <a:t>D</a:t>
              </a:r>
              <a:r>
                <a:rPr lang="fr-FR" b="1" dirty="0">
                  <a:latin typeface="Comic Sans MS" pitchFamily="66" charset="0"/>
                </a:rPr>
                <a:t>T</a:t>
              </a:r>
              <a:r>
                <a:rPr lang="fr-FR" b="1" baseline="-25000" dirty="0">
                  <a:latin typeface="Comic Sans MS" pitchFamily="66" charset="0"/>
                </a:rPr>
                <a:t>0</a:t>
              </a:r>
              <a:endParaRPr lang="fr-FR" b="1" dirty="0">
                <a:latin typeface="Comic Sans MS" pitchFamily="66" charset="0"/>
              </a:endParaRPr>
            </a:p>
          </p:txBody>
        </p:sp>
        <p:sp>
          <p:nvSpPr>
            <p:cNvPr id="19" name="Oval 58">
              <a:extLst>
                <a:ext uri="{FF2B5EF4-FFF2-40B4-BE49-F238E27FC236}">
                  <a16:creationId xmlns:a16="http://schemas.microsoft.com/office/drawing/2014/main" id="{CB81D283-4112-4229-85F1-1E58D662D4B5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772025" y="2729647"/>
              <a:ext cx="914400" cy="496721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graphicFrame>
          <p:nvGraphicFramePr>
            <p:cNvPr id="20" name="Object 7">
              <a:extLst>
                <a:ext uri="{FF2B5EF4-FFF2-40B4-BE49-F238E27FC236}">
                  <a16:creationId xmlns:a16="http://schemas.microsoft.com/office/drawing/2014/main" id="{5482ADF8-1185-4BD7-BEEA-59D5901AFE1E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15"/>
              </p:custDataLst>
              <p:extLst>
                <p:ext uri="{D42A27DB-BD31-4B8C-83A1-F6EECF244321}">
                  <p14:modId xmlns:p14="http://schemas.microsoft.com/office/powerpoint/2010/main" val="3236310352"/>
                </p:ext>
              </p:extLst>
            </p:nvPr>
          </p:nvGraphicFramePr>
          <p:xfrm>
            <a:off x="3772451" y="1611013"/>
            <a:ext cx="1296124" cy="568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1" name="Equation" r:id="rId19" imgW="634680" imgH="279360" progId="Equation.DSMT4">
                    <p:embed/>
                  </p:oleObj>
                </mc:Choice>
                <mc:Fallback>
                  <p:oleObj name="Equation" r:id="rId19" imgW="634680" imgH="279360" progId="Equation.DSMT4">
                    <p:embed/>
                    <p:pic>
                      <p:nvPicPr>
                        <p:cNvPr id="2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2451" y="1611013"/>
                          <a:ext cx="1296124" cy="5686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03412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6FAB4D-F128-4B20-A6BE-E8BAD685C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Heat exchanger modeling for simulation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F2C26AF-B8F9-4D0A-982D-EA2848B2D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0BFBCC-063E-4E94-A2FF-E98BCD34F87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6377" y="3655436"/>
            <a:ext cx="5760000" cy="463553"/>
          </a:xfrm>
        </p:spPr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method</a:t>
            </a:r>
            <a:r>
              <a:rPr lang="fr-FR" dirty="0"/>
              <a:t> NUT </a:t>
            </a:r>
            <a:r>
              <a:rPr lang="fr-FR" dirty="0" err="1"/>
              <a:t>calculateT_out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sequential</a:t>
            </a:r>
            <a:r>
              <a:rPr lang="fr-FR" dirty="0"/>
              <a:t> calculs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AF5AE1D-F3B7-41B6-8981-8938E4C6906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756977" y="6303291"/>
            <a:ext cx="2133600" cy="365125"/>
          </a:xfrm>
        </p:spPr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000EBD35-9B1D-4C98-8EF8-25F44D458065}"/>
                  </a:ext>
                </a:extLst>
              </p:cNvPr>
              <p:cNvSpPr txBox="1"/>
              <p:nvPr/>
            </p:nvSpPr>
            <p:spPr bwMode="auto">
              <a:xfrm>
                <a:off x="625748" y="1666434"/>
                <a:ext cx="3360425" cy="980780"/>
              </a:xfrm>
              <a:prstGeom prst="rect">
                <a:avLst/>
              </a:prstGeom>
              <a:noFill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𝑈𝐴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</m:oMath>
                  </m:oMathPara>
                </a14:m>
                <a:endParaRPr lang="fr-F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000EBD35-9B1D-4C98-8EF8-25F44D458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748" y="1666434"/>
                <a:ext cx="3360425" cy="980780"/>
              </a:xfrm>
              <a:prstGeom prst="rect">
                <a:avLst/>
              </a:prstGeom>
              <a:blipFill>
                <a:blip r:embed="rId2"/>
                <a:stretch>
                  <a:fillRect b="-1863"/>
                </a:stretch>
              </a:blipFill>
              <a:extLst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lèche vers le bas 24">
            <a:extLst>
              <a:ext uri="{FF2B5EF4-FFF2-40B4-BE49-F238E27FC236}">
                <a16:creationId xmlns:a16="http://schemas.microsoft.com/office/drawing/2014/main" id="{0D85E6D2-C54C-405C-AA29-74479D37BEF1}"/>
              </a:ext>
            </a:extLst>
          </p:cNvPr>
          <p:cNvSpPr/>
          <p:nvPr/>
        </p:nvSpPr>
        <p:spPr>
          <a:xfrm rot="16200000">
            <a:off x="4038671" y="1918100"/>
            <a:ext cx="442762" cy="54775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A4AF262-430F-4982-A635-36DEA10E02DE}"/>
              </a:ext>
            </a:extLst>
          </p:cNvPr>
          <p:cNvSpPr txBox="1"/>
          <p:nvPr/>
        </p:nvSpPr>
        <p:spPr>
          <a:xfrm>
            <a:off x="4968674" y="1787821"/>
            <a:ext cx="3313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T_out</a:t>
            </a:r>
            <a:r>
              <a:rPr lang="fr-FR" dirty="0"/>
              <a:t> </a:t>
            </a:r>
            <a:r>
              <a:rPr lang="fr-FR" dirty="0" err="1"/>
              <a:t>calculated</a:t>
            </a:r>
            <a:r>
              <a:rPr lang="fr-FR" dirty="0"/>
              <a:t>, </a:t>
            </a:r>
          </a:p>
          <a:p>
            <a:r>
              <a:rPr lang="fr-FR" dirty="0"/>
              <a:t>but </a:t>
            </a:r>
            <a:r>
              <a:rPr lang="fr-FR" dirty="0" err="1"/>
              <a:t>require</a:t>
            </a:r>
            <a:r>
              <a:rPr lang="fr-FR" dirty="0"/>
              <a:t> </a:t>
            </a:r>
            <a:r>
              <a:rPr lang="fr-FR" dirty="0" err="1"/>
              <a:t>solving</a:t>
            </a:r>
            <a:r>
              <a:rPr lang="fr-FR" dirty="0"/>
              <a:t> log </a:t>
            </a:r>
            <a:r>
              <a:rPr lang="fr-FR" dirty="0" err="1"/>
              <a:t>function</a:t>
            </a: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14A4474-E46D-4B9D-BA66-8A282CC1E236}"/>
                  </a:ext>
                </a:extLst>
              </p:cNvPr>
              <p:cNvSpPr txBox="1"/>
              <p:nvPr/>
            </p:nvSpPr>
            <p:spPr>
              <a:xfrm>
                <a:off x="1213292" y="4251643"/>
                <a:ext cx="1348895" cy="5672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𝑁𝑈𝑇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𝑈𝐴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14A4474-E46D-4B9D-BA66-8A282CC1E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292" y="4251643"/>
                <a:ext cx="1348895" cy="567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3029BB59-DF0B-48DA-840B-EB187B65012E}"/>
                  </a:ext>
                </a:extLst>
              </p:cNvPr>
              <p:cNvSpPr txBox="1"/>
              <p:nvPr/>
            </p:nvSpPr>
            <p:spPr>
              <a:xfrm>
                <a:off x="3520930" y="4364210"/>
                <a:ext cx="25044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𝑒𝑓𝑓𝑒𝑐𝑡𝑖𝑣𝑛𝑒𝑠𝑠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𝑁𝑈𝑇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3029BB59-DF0B-48DA-840B-EB187B650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930" y="4364210"/>
                <a:ext cx="2504404" cy="276999"/>
              </a:xfrm>
              <a:prstGeom prst="rect">
                <a:avLst/>
              </a:prstGeom>
              <a:blipFill>
                <a:blip r:embed="rId4"/>
                <a:stretch>
                  <a:fillRect l="-2683" r="-2927" b="-3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6E78C5C-BEBC-4E01-A5F0-17E7A32374F1}"/>
              </a:ext>
            </a:extLst>
          </p:cNvPr>
          <p:cNvCxnSpPr/>
          <p:nvPr/>
        </p:nvCxnSpPr>
        <p:spPr>
          <a:xfrm>
            <a:off x="2823220" y="4502709"/>
            <a:ext cx="5031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CF272313-9958-4890-973A-AC882ED81EEA}"/>
              </a:ext>
            </a:extLst>
          </p:cNvPr>
          <p:cNvCxnSpPr/>
          <p:nvPr/>
        </p:nvCxnSpPr>
        <p:spPr>
          <a:xfrm>
            <a:off x="6206377" y="4535278"/>
            <a:ext cx="838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C2E4EBD5-6E09-4034-B7EA-75BA5A3DB370}"/>
              </a:ext>
            </a:extLst>
          </p:cNvPr>
          <p:cNvSpPr txBox="1"/>
          <p:nvPr/>
        </p:nvSpPr>
        <p:spPr>
          <a:xfrm>
            <a:off x="7336854" y="436421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T_out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6412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1AD586-A66A-4F1A-8ED9-1DD9179B4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Effectiveness</a:t>
            </a:r>
            <a:r>
              <a:rPr lang="fr-FR" dirty="0"/>
              <a:t> of h</a:t>
            </a:r>
            <a:r>
              <a:rPr lang="en-US" dirty="0"/>
              <a:t>eat exchanger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450B85A-4A8A-4F25-8B8E-B8B590F34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388" y="702188"/>
            <a:ext cx="6102612" cy="21220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2E106E-BE22-40C8-9D0F-7E1F550975F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000" y="5103949"/>
            <a:ext cx="7799040" cy="1274411"/>
          </a:xfrm>
        </p:spPr>
        <p:txBody>
          <a:bodyPr/>
          <a:lstStyle/>
          <a:p>
            <a:r>
              <a:rPr lang="en-US" dirty="0"/>
              <a:t>Effectiveness = the ratio of actual heat transferred to the maximum possible heat transfer</a:t>
            </a:r>
          </a:p>
          <a:p>
            <a:r>
              <a:rPr lang="en-US" dirty="0"/>
              <a:t>Effectiveness result from the HEX surface (i.e. the HEX cost)</a:t>
            </a:r>
          </a:p>
          <a:p>
            <a:r>
              <a:rPr lang="en-US" dirty="0"/>
              <a:t>Effectiveness of counter flow &gt; Effectiveness of parallel flow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7D5923-C667-43B5-89D2-9292FACB60D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A73357D-1891-4E15-AC44-48A77FF123BB}"/>
              </a:ext>
            </a:extLst>
          </p:cNvPr>
          <p:cNvGrpSpPr/>
          <p:nvPr/>
        </p:nvGrpSpPr>
        <p:grpSpPr>
          <a:xfrm>
            <a:off x="3476358" y="998886"/>
            <a:ext cx="5286375" cy="3771900"/>
            <a:chOff x="3597275" y="796925"/>
            <a:chExt cx="5286375" cy="3771900"/>
          </a:xfrm>
        </p:grpSpPr>
        <p:graphicFrame>
          <p:nvGraphicFramePr>
            <p:cNvPr id="6" name="Object 1025">
              <a:extLst>
                <a:ext uri="{FF2B5EF4-FFF2-40B4-BE49-F238E27FC236}">
                  <a16:creationId xmlns:a16="http://schemas.microsoft.com/office/drawing/2014/main" id="{524F8BE0-8578-4CC9-B3F9-3A3C46A88CB4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3"/>
              </p:custDataLst>
              <p:extLst>
                <p:ext uri="{D42A27DB-BD31-4B8C-83A1-F6EECF244321}">
                  <p14:modId xmlns:p14="http://schemas.microsoft.com/office/powerpoint/2010/main" val="2914597154"/>
                </p:ext>
              </p:extLst>
            </p:nvPr>
          </p:nvGraphicFramePr>
          <p:xfrm>
            <a:off x="3965575" y="796925"/>
            <a:ext cx="4918075" cy="3771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0" name="Worksheet" r:id="rId16" imgW="4385520" imgH="2340720" progId="Excel.Sheet.8">
                    <p:embed/>
                  </p:oleObj>
                </mc:Choice>
                <mc:Fallback>
                  <p:oleObj name="Worksheet" r:id="rId16" imgW="4385520" imgH="2340720" progId="Excel.Sheet.8">
                    <p:embed/>
                    <p:pic>
                      <p:nvPicPr>
                        <p:cNvPr id="7" name="Object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5575" y="796925"/>
                          <a:ext cx="4918075" cy="3771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067">
              <a:extLst>
                <a:ext uri="{FF2B5EF4-FFF2-40B4-BE49-F238E27FC236}">
                  <a16:creationId xmlns:a16="http://schemas.microsoft.com/office/drawing/2014/main" id="{2FF4C4A5-A752-471A-B048-218B0E30DC43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585952" y="914401"/>
              <a:ext cx="46679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fr-FR" sz="2000" b="1" dirty="0">
                  <a:solidFill>
                    <a:srgbClr val="A50021"/>
                  </a:solidFill>
                  <a:latin typeface="Comic Sans MS" pitchFamily="66" charset="0"/>
                </a:rPr>
                <a:t>T</a:t>
              </a:r>
              <a:r>
                <a:rPr lang="fr-FR" sz="2000" b="1" baseline="-25000" dirty="0">
                  <a:solidFill>
                    <a:srgbClr val="A50021"/>
                  </a:solidFill>
                  <a:latin typeface="Comic Sans MS" pitchFamily="66" charset="0"/>
                </a:rPr>
                <a:t>0</a:t>
              </a:r>
              <a:endParaRPr lang="fr-FR" sz="2000" b="1" dirty="0">
                <a:solidFill>
                  <a:srgbClr val="A50021"/>
                </a:solidFill>
                <a:latin typeface="Comic Sans MS" pitchFamily="66" charset="0"/>
              </a:endParaRPr>
            </a:p>
          </p:txBody>
        </p:sp>
        <p:sp>
          <p:nvSpPr>
            <p:cNvPr id="8" name="Text Box 1068">
              <a:extLst>
                <a:ext uri="{FF2B5EF4-FFF2-40B4-BE49-F238E27FC236}">
                  <a16:creationId xmlns:a16="http://schemas.microsoft.com/office/drawing/2014/main" id="{9F58CEE4-0558-4040-BBC7-52A674896020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518959" y="1919628"/>
              <a:ext cx="40908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fr-FR" sz="2000" b="1" dirty="0">
                  <a:solidFill>
                    <a:srgbClr val="0070C0"/>
                  </a:solidFill>
                  <a:latin typeface="Comic Sans MS" pitchFamily="66" charset="0"/>
                </a:rPr>
                <a:t>t</a:t>
              </a:r>
              <a:r>
                <a:rPr lang="fr-FR" sz="2000" b="1" baseline="-25000" dirty="0">
                  <a:solidFill>
                    <a:srgbClr val="0070C0"/>
                  </a:solidFill>
                  <a:latin typeface="Comic Sans MS" pitchFamily="66" charset="0"/>
                </a:rPr>
                <a:t>0</a:t>
              </a:r>
              <a:endParaRPr lang="fr-FR" sz="2000" b="1" dirty="0">
                <a:solidFill>
                  <a:srgbClr val="0070C0"/>
                </a:solidFill>
                <a:latin typeface="Comic Sans MS" pitchFamily="66" charset="0"/>
              </a:endParaRPr>
            </a:p>
          </p:txBody>
        </p:sp>
        <p:sp>
          <p:nvSpPr>
            <p:cNvPr id="9" name="Text Box 1069">
              <a:extLst>
                <a:ext uri="{FF2B5EF4-FFF2-40B4-BE49-F238E27FC236}">
                  <a16:creationId xmlns:a16="http://schemas.microsoft.com/office/drawing/2014/main" id="{5F11D54F-3AF7-4C2F-A12D-B427AE1C388D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245475" y="3951289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fr-FR" sz="1600" dirty="0">
                  <a:latin typeface="Comic Sans MS" pitchFamily="66" charset="0"/>
                </a:rPr>
                <a:t>L</a:t>
              </a:r>
            </a:p>
          </p:txBody>
        </p:sp>
        <p:sp>
          <p:nvSpPr>
            <p:cNvPr id="10" name="Text Box 1070">
              <a:extLst>
                <a:ext uri="{FF2B5EF4-FFF2-40B4-BE49-F238E27FC236}">
                  <a16:creationId xmlns:a16="http://schemas.microsoft.com/office/drawing/2014/main" id="{B526DD89-4BE7-4565-9ABC-6694DDFF5B8B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121650" y="1406526"/>
              <a:ext cx="609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r-FR" sz="2000" b="1">
                  <a:solidFill>
                    <a:srgbClr val="A50021"/>
                  </a:solidFill>
                  <a:latin typeface="Comic Sans MS" pitchFamily="66" charset="0"/>
                </a:rPr>
                <a:t>T</a:t>
              </a:r>
              <a:r>
                <a:rPr lang="fr-FR" sz="2000" b="1" baseline="-25000">
                  <a:solidFill>
                    <a:srgbClr val="A50021"/>
                  </a:solidFill>
                  <a:latin typeface="Comic Sans MS" pitchFamily="66" charset="0"/>
                </a:rPr>
                <a:t>L</a:t>
              </a:r>
              <a:endParaRPr lang="fr-FR" sz="2000" b="1">
                <a:solidFill>
                  <a:srgbClr val="A50021"/>
                </a:solidFill>
                <a:latin typeface="Comic Sans MS" pitchFamily="66" charset="0"/>
              </a:endParaRPr>
            </a:p>
          </p:txBody>
        </p:sp>
        <p:sp>
          <p:nvSpPr>
            <p:cNvPr id="11" name="Text Box 1071">
              <a:extLst>
                <a:ext uri="{FF2B5EF4-FFF2-40B4-BE49-F238E27FC236}">
                  <a16:creationId xmlns:a16="http://schemas.microsoft.com/office/drawing/2014/main" id="{CE0AFD0A-962D-46D2-9C76-DA24FFE61089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121650" y="3295651"/>
              <a:ext cx="533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r-FR" sz="2000" b="1">
                  <a:solidFill>
                    <a:srgbClr val="0070C0"/>
                  </a:solidFill>
                  <a:latin typeface="Comic Sans MS" pitchFamily="66" charset="0"/>
                </a:rPr>
                <a:t>t</a:t>
              </a:r>
              <a:r>
                <a:rPr lang="fr-FR" sz="2000" b="1" baseline="-25000">
                  <a:solidFill>
                    <a:srgbClr val="0070C0"/>
                  </a:solidFill>
                  <a:latin typeface="Comic Sans MS" pitchFamily="66" charset="0"/>
                </a:rPr>
                <a:t>L</a:t>
              </a:r>
              <a:endParaRPr lang="fr-FR" sz="2000" b="1">
                <a:solidFill>
                  <a:srgbClr val="0070C0"/>
                </a:solidFill>
                <a:latin typeface="Comic Sans MS" pitchFamily="66" charset="0"/>
              </a:endParaRPr>
            </a:p>
          </p:txBody>
        </p:sp>
        <p:sp>
          <p:nvSpPr>
            <p:cNvPr id="12" name="Line 1072">
              <a:extLst>
                <a:ext uri="{FF2B5EF4-FFF2-40B4-BE49-F238E27FC236}">
                  <a16:creationId xmlns:a16="http://schemas.microsoft.com/office/drawing/2014/main" id="{FE501193-4CCC-4E02-8F16-85CE97B0AEBD}"/>
                </a:ext>
              </a:extLst>
            </p:cNvPr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6570663" y="1757364"/>
              <a:ext cx="304800" cy="76200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 type="triangle" w="lg" len="lg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" name="Line 1073">
              <a:extLst>
                <a:ext uri="{FF2B5EF4-FFF2-40B4-BE49-F238E27FC236}">
                  <a16:creationId xmlns:a16="http://schemas.microsoft.com/office/drawing/2014/main" id="{9939805B-D401-41E0-ADAB-445B5E504C03}"/>
                </a:ext>
              </a:extLst>
            </p:cNvPr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rot="1790779" flipH="1">
              <a:off x="5146675" y="2047876"/>
              <a:ext cx="304800" cy="7620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lg" len="lg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" name="Line 1074">
              <a:extLst>
                <a:ext uri="{FF2B5EF4-FFF2-40B4-BE49-F238E27FC236}">
                  <a16:creationId xmlns:a16="http://schemas.microsoft.com/office/drawing/2014/main" id="{B1B30464-B0AE-458F-BAAB-B861F048094B}"/>
                </a:ext>
              </a:extLst>
            </p:cNvPr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rot="21047631">
              <a:off x="3625850" y="1377951"/>
              <a:ext cx="762000" cy="152400"/>
            </a:xfrm>
            <a:prstGeom prst="line">
              <a:avLst/>
            </a:prstGeom>
            <a:noFill/>
            <a:ln w="28575">
              <a:solidFill>
                <a:srgbClr val="FF505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" name="Line 1075">
              <a:extLst>
                <a:ext uri="{FF2B5EF4-FFF2-40B4-BE49-F238E27FC236}">
                  <a16:creationId xmlns:a16="http://schemas.microsoft.com/office/drawing/2014/main" id="{5CA22F3F-CDC6-437C-A9B0-D25FB5B15304}"/>
                </a:ext>
              </a:extLst>
            </p:cNvPr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rot="336101">
              <a:off x="3597275" y="1662114"/>
              <a:ext cx="838200" cy="1587"/>
            </a:xfrm>
            <a:prstGeom prst="line">
              <a:avLst/>
            </a:prstGeom>
            <a:noFill/>
            <a:ln w="38100" cap="rnd">
              <a:solidFill>
                <a:srgbClr val="0070C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" name="Oval 1078">
              <a:extLst>
                <a:ext uri="{FF2B5EF4-FFF2-40B4-BE49-F238E27FC236}">
                  <a16:creationId xmlns:a16="http://schemas.microsoft.com/office/drawing/2014/main" id="{179761DC-527E-499E-A43D-059F22D441C6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966020" y="1307354"/>
              <a:ext cx="914400" cy="570557"/>
            </a:xfrm>
            <a:prstGeom prst="ellips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graphicFrame>
          <p:nvGraphicFramePr>
            <p:cNvPr id="17" name="Object 7">
              <a:extLst>
                <a:ext uri="{FF2B5EF4-FFF2-40B4-BE49-F238E27FC236}">
                  <a16:creationId xmlns:a16="http://schemas.microsoft.com/office/drawing/2014/main" id="{613D626F-5435-4162-AAED-D28E3FEFE496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14"/>
              </p:custDataLst>
              <p:extLst>
                <p:ext uri="{D42A27DB-BD31-4B8C-83A1-F6EECF244321}">
                  <p14:modId xmlns:p14="http://schemas.microsoft.com/office/powerpoint/2010/main" val="2039245540"/>
                </p:ext>
              </p:extLst>
            </p:nvPr>
          </p:nvGraphicFramePr>
          <p:xfrm>
            <a:off x="4585952" y="2576341"/>
            <a:ext cx="1503172" cy="659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1" name="Equation" r:id="rId18" imgW="634680" imgH="279360" progId="Equation.DSMT4">
                    <p:embed/>
                  </p:oleObj>
                </mc:Choice>
                <mc:Fallback>
                  <p:oleObj name="Equation" r:id="rId18" imgW="634680" imgH="279360" progId="Equation.DSMT4">
                    <p:embed/>
                    <p:pic>
                      <p:nvPicPr>
                        <p:cNvPr id="11879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5952" y="2576341"/>
                          <a:ext cx="1503172" cy="659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5FE68118-4C43-49BB-96B1-1785A5127685}"/>
                  </a:ext>
                </a:extLst>
              </p:cNvPr>
              <p:cNvSpPr txBox="1"/>
              <p:nvPr/>
            </p:nvSpPr>
            <p:spPr bwMode="auto">
              <a:xfrm>
                <a:off x="1171048" y="3137013"/>
                <a:ext cx="1643271" cy="123589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5FE68118-4C43-49BB-96B1-1785A5127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1048" y="3137013"/>
                <a:ext cx="1643271" cy="123589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t 19">
                <a:extLst>
                  <a:ext uri="{FF2B5EF4-FFF2-40B4-BE49-F238E27FC236}">
                    <a16:creationId xmlns:a16="http://schemas.microsoft.com/office/drawing/2014/main" id="{DA1F2FA8-E2A6-4222-8764-ACAA0B054256}"/>
                  </a:ext>
                </a:extLst>
              </p:cNvPr>
              <p:cNvSpPr txBox="1"/>
              <p:nvPr/>
            </p:nvSpPr>
            <p:spPr bwMode="auto">
              <a:xfrm>
                <a:off x="806449" y="1428425"/>
                <a:ext cx="2224964" cy="1027501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fr-F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𝑒𝑥𝑐h𝑎𝑛𝑔𝑒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func>
                                <m:funcPr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sub>
                          </m:sSub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0" name="Objet 19">
                <a:extLst>
                  <a:ext uri="{FF2B5EF4-FFF2-40B4-BE49-F238E27FC236}">
                    <a16:creationId xmlns:a16="http://schemas.microsoft.com/office/drawing/2014/main" id="{DA1F2FA8-E2A6-4222-8764-ACAA0B054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6449" y="1428425"/>
                <a:ext cx="2224964" cy="102750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lèche droite 36">
            <a:extLst>
              <a:ext uri="{FF2B5EF4-FFF2-40B4-BE49-F238E27FC236}">
                <a16:creationId xmlns:a16="http://schemas.microsoft.com/office/drawing/2014/main" id="{0BC4E703-9D68-4E77-B77E-DCC6368ED63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5400000">
            <a:off x="1615772" y="2549481"/>
            <a:ext cx="464972" cy="24765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219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!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17</a:t>
            </a:fld>
            <a:endParaRPr lang="fr-F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6107</TotalTime>
  <Words>1017</Words>
  <Application>Microsoft Office PowerPoint</Application>
  <PresentationFormat>Affichage à l'écran (4:3)</PresentationFormat>
  <Paragraphs>211</Paragraphs>
  <Slides>17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3</vt:i4>
      </vt:variant>
      <vt:variant>
        <vt:lpstr>Titres des diapositives</vt:lpstr>
      </vt:variant>
      <vt:variant>
        <vt:i4>17</vt:i4>
      </vt:variant>
    </vt:vector>
  </HeadingPairs>
  <TitlesOfParts>
    <vt:vector size="29" baseType="lpstr">
      <vt:lpstr>ＭＳ Ｐゴシック</vt:lpstr>
      <vt:lpstr>Arial</vt:lpstr>
      <vt:lpstr>Calibri</vt:lpstr>
      <vt:lpstr>Cambria Math</vt:lpstr>
      <vt:lpstr>Comic Sans MS</vt:lpstr>
      <vt:lpstr>Lucida Grande</vt:lpstr>
      <vt:lpstr>Symbol</vt:lpstr>
      <vt:lpstr>Wingdings</vt:lpstr>
      <vt:lpstr>Thème Office</vt:lpstr>
      <vt:lpstr>Equation</vt:lpstr>
      <vt:lpstr>Worksheet</vt:lpstr>
      <vt:lpstr>Feuille de calcul</vt:lpstr>
      <vt:lpstr>Component modeling</vt:lpstr>
      <vt:lpstr>1er principe de la thermodynamique</vt:lpstr>
      <vt:lpstr>1er principe de la thermodynamique</vt:lpstr>
      <vt:lpstr>2ème principe de la thermodynamique</vt:lpstr>
      <vt:lpstr>Expansion valve modeling</vt:lpstr>
      <vt:lpstr>Closed tank</vt:lpstr>
      <vt:lpstr>Compression modeling (1)</vt:lpstr>
      <vt:lpstr>Compression modeling (2)</vt:lpstr>
      <vt:lpstr>Compression modeling (3)</vt:lpstr>
      <vt:lpstr>Analysis of heat exchanger</vt:lpstr>
      <vt:lpstr>Analysis of heat exchanger (2)</vt:lpstr>
      <vt:lpstr>Heat exchanger modeling</vt:lpstr>
      <vt:lpstr>Heat exchanger modeling for design</vt:lpstr>
      <vt:lpstr>Pinch of a heat exchanger</vt:lpstr>
      <vt:lpstr>Heat exchanger modeling for simulation</vt:lpstr>
      <vt:lpstr>Effectiveness of heat exchanger</vt:lpstr>
      <vt:lpstr>Thank you !</vt:lpstr>
    </vt:vector>
  </TitlesOfParts>
  <Company>oko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oko</dc:creator>
  <cp:lastModifiedBy>Cong Toan TRAN</cp:lastModifiedBy>
  <cp:revision>391</cp:revision>
  <dcterms:created xsi:type="dcterms:W3CDTF">2011-06-21T08:31:57Z</dcterms:created>
  <dcterms:modified xsi:type="dcterms:W3CDTF">2026-10-19T09:40:32Z</dcterms:modified>
</cp:coreProperties>
</file>