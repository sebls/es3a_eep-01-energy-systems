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8" r:id="rId3"/>
    <p:sldId id="259" r:id="rId4"/>
    <p:sldId id="277" r:id="rId5"/>
    <p:sldId id="260" r:id="rId6"/>
    <p:sldId id="279" r:id="rId7"/>
    <p:sldId id="276" r:id="rId8"/>
    <p:sldId id="275" r:id="rId9"/>
  </p:sldIdLst>
  <p:sldSz cx="9144000" cy="6858000" type="screen4x3"/>
  <p:notesSz cx="6858000" cy="9144000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56">
          <p15:clr>
            <a:srgbClr val="A4A3A4"/>
          </p15:clr>
        </p15:guide>
        <p15:guide id="3" orient="horz" pos="2596">
          <p15:clr>
            <a:srgbClr val="A4A3A4"/>
          </p15:clr>
        </p15:guide>
        <p15:guide id="4" pos="2881">
          <p15:clr>
            <a:srgbClr val="A4A3A4"/>
          </p15:clr>
        </p15:guide>
        <p15:guide id="5" pos="113">
          <p15:clr>
            <a:srgbClr val="A4A3A4"/>
          </p15:clr>
        </p15:guide>
        <p15:guide id="6" pos="5648">
          <p15:clr>
            <a:srgbClr val="A4A3A4"/>
          </p15:clr>
        </p15:guide>
        <p15:guide id="7" pos="3958">
          <p15:clr>
            <a:srgbClr val="A4A3A4"/>
          </p15:clr>
        </p15:guide>
        <p15:guide id="8" pos="412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RAN Cong-Toan" initials="CTT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9E"/>
    <a:srgbClr val="9C9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88889" autoAdjust="0"/>
  </p:normalViewPr>
  <p:slideViewPr>
    <p:cSldViewPr snapToGrid="0" snapToObjects="1">
      <p:cViewPr varScale="1">
        <p:scale>
          <a:sx n="102" d="100"/>
          <a:sy n="102" d="100"/>
        </p:scale>
        <p:origin x="1902" y="96"/>
      </p:cViewPr>
      <p:guideLst>
        <p:guide orient="horz" pos="2160"/>
        <p:guide orient="horz" pos="556"/>
        <p:guide orient="horz" pos="2596"/>
        <p:guide pos="2881"/>
        <p:guide pos="113"/>
        <p:guide pos="5648"/>
        <p:guide pos="3958"/>
        <p:guide pos="41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401A684-92B4-4640-B861-7B4000592903}" type="datetime1">
              <a:rPr lang="fr-FR"/>
              <a:pPr>
                <a:defRPr/>
              </a:pPr>
              <a:t>04/11/2024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B0789C4F-2D15-4C71-B0A3-E3ADE593F79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24B1DE83-2637-4D6B-A1E8-19B1C893CA8F}" type="datetime1">
              <a:rPr lang="fr-FR"/>
              <a:pPr>
                <a:defRPr/>
              </a:pPr>
              <a:t>04/11/2024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B1228F68-81A5-4523-B8EE-0AC3B0187C2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 userDrawn="1"/>
        </p:nvCxnSpPr>
        <p:spPr>
          <a:xfrm>
            <a:off x="457200" y="3454400"/>
            <a:ext cx="8509000" cy="1588"/>
          </a:xfrm>
          <a:prstGeom prst="line">
            <a:avLst/>
          </a:prstGeom>
          <a:ln w="6350" cap="flat" cmpd="sng" algn="ctr">
            <a:solidFill>
              <a:srgbClr val="9C9E9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 userDrawn="1"/>
        </p:nvSpPr>
        <p:spPr>
          <a:xfrm>
            <a:off x="179388" y="3884613"/>
            <a:ext cx="179387" cy="179387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858250" y="3205163"/>
            <a:ext cx="107950" cy="1079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>
                <a:solidFill>
                  <a:srgbClr val="FFFFFF"/>
                </a:solidFill>
                <a:ea typeface="ＭＳ Ｐゴシック" charset="-128"/>
              </a:rPr>
              <a:t>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701088" y="3205163"/>
            <a:ext cx="107950" cy="107950"/>
          </a:xfrm>
          <a:prstGeom prst="rect">
            <a:avLst/>
          </a:prstGeom>
          <a:solidFill>
            <a:srgbClr val="9C9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>
                <a:solidFill>
                  <a:srgbClr val="FFFFFF"/>
                </a:solidFill>
                <a:ea typeface="ＭＳ Ｐゴシック" charset="-128"/>
              </a:rPr>
              <a:t> </a:t>
            </a:r>
          </a:p>
        </p:txBody>
      </p:sp>
      <p:pic>
        <p:nvPicPr>
          <p:cNvPr id="7" name="Image 10" descr="Mines ParisTech Logo RVB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73500" y="546100"/>
            <a:ext cx="140017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8000" y="3556312"/>
            <a:ext cx="7772400" cy="615553"/>
          </a:xfrm>
        </p:spPr>
        <p:txBody>
          <a:bodyPr lIns="0" tIns="0" rIns="0" bIns="0" anchor="b">
            <a:noAutofit/>
          </a:bodyPr>
          <a:lstStyle>
            <a:lvl1pPr algn="l">
              <a:defRPr sz="4000">
                <a:solidFill>
                  <a:srgbClr val="005E9E"/>
                </a:solidFill>
                <a:latin typeface="Arial"/>
                <a:cs typeface="Arial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400800" y="3109913"/>
            <a:ext cx="2133600" cy="234950"/>
          </a:xfrm>
        </p:spPr>
        <p:txBody>
          <a:bodyPr lIns="0" tIns="0" rIns="0" bIns="0" anchor="b"/>
          <a:lstStyle>
            <a:lvl1pPr algn="r">
              <a:defRPr>
                <a:solidFill>
                  <a:srgbClr val="9C9E9F"/>
                </a:solidFill>
              </a:defRPr>
            </a:lvl1pPr>
          </a:lstStyle>
          <a:p>
            <a:pPr>
              <a:defRPr/>
            </a:pPr>
            <a:fld id="{221BE6A0-76A7-402C-96FB-8AA654334B77}" type="datetime1">
              <a:rPr lang="fr-FR"/>
              <a:pPr>
                <a:defRPr/>
              </a:pPr>
              <a:t>04/11/2024</a:t>
            </a:fld>
            <a:endParaRPr lang="fr-FR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139BF-F754-49C5-9D32-F2FA785EB4A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ndir un rectangle avec un coin diagonal 4"/>
          <p:cNvSpPr/>
          <p:nvPr userDrawn="1"/>
        </p:nvSpPr>
        <p:spPr>
          <a:xfrm>
            <a:off x="-17463" y="1023938"/>
            <a:ext cx="9296401" cy="5514975"/>
          </a:xfrm>
          <a:prstGeom prst="round2DiagRect">
            <a:avLst/>
          </a:prstGeom>
          <a:noFill/>
          <a:ln>
            <a:solidFill>
              <a:srgbClr val="9C9E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701675"/>
            <a:ext cx="9144000" cy="5264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57200" y="600075"/>
            <a:ext cx="7783513" cy="1588"/>
          </a:xfrm>
          <a:prstGeom prst="line">
            <a:avLst/>
          </a:prstGeom>
          <a:ln w="6350" cap="flat" cmpd="sng" algn="ctr">
            <a:solidFill>
              <a:srgbClr val="9C9E9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 9" descr="Mines ParisTech Logo RVB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440738" y="115888"/>
            <a:ext cx="52546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8000" y="50802"/>
            <a:ext cx="7772400" cy="497020"/>
          </a:xfrm>
        </p:spPr>
        <p:txBody>
          <a:bodyPr lIns="0" tIns="0" rIns="0" bIns="0" anchor="b">
            <a:noAutofit/>
          </a:bodyPr>
          <a:lstStyle>
            <a:lvl1pPr algn="l">
              <a:defRPr sz="3000">
                <a:solidFill>
                  <a:srgbClr val="005E9E"/>
                </a:solidFill>
                <a:latin typeface="Arial"/>
                <a:cs typeface="Arial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9388" y="702193"/>
            <a:ext cx="6102612" cy="212208"/>
          </a:xfrm>
        </p:spPr>
        <p:txBody>
          <a:bodyPr lIns="0" tIns="0" rIns="0" bIns="0" anchor="b">
            <a:noAutofit/>
          </a:bodyPr>
          <a:lstStyle>
            <a:lvl1pPr marL="271463" indent="-271463" algn="l">
              <a:buSzPct val="120000"/>
              <a:buFont typeface="Wingdings" charset="2"/>
              <a:buChar char=""/>
              <a:defRPr sz="1400">
                <a:solidFill>
                  <a:srgbClr val="005E9E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14" name="Espace réservé du contenu 2"/>
          <p:cNvSpPr>
            <a:spLocks noGrp="1"/>
          </p:cNvSpPr>
          <p:nvPr>
            <p:ph idx="13"/>
          </p:nvPr>
        </p:nvSpPr>
        <p:spPr>
          <a:xfrm>
            <a:off x="522000" y="1440000"/>
            <a:ext cx="5760000" cy="4525963"/>
          </a:xfrm>
        </p:spPr>
        <p:txBody>
          <a:bodyPr lIns="0" tIns="0" rIns="0" bIns="0">
            <a:noAutofit/>
          </a:bodyPr>
          <a:lstStyle>
            <a:lvl1pPr marL="271463" indent="-271463">
              <a:buClr>
                <a:srgbClr val="005E9E"/>
              </a:buClr>
              <a:buSzPct val="100000"/>
              <a:buFont typeface="Lucida Grande"/>
              <a:buChar char="•"/>
              <a:defRPr sz="17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1pPr>
            <a:lvl2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2pPr>
            <a:lvl3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3pPr>
            <a:lvl4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4pPr>
            <a:lvl5pPr>
              <a:defRPr sz="15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4"/>
          </p:nvPr>
        </p:nvSpPr>
        <p:spPr>
          <a:xfrm>
            <a:off x="6832600" y="6297613"/>
            <a:ext cx="2133600" cy="365125"/>
          </a:xfrm>
        </p:spPr>
        <p:txBody>
          <a:bodyPr lIns="0" tIns="0" rIns="0" bIns="0" anchor="b"/>
          <a:lstStyle>
            <a:lvl1pPr>
              <a:defRPr/>
            </a:lvl1pPr>
          </a:lstStyle>
          <a:p>
            <a:pPr>
              <a:defRPr/>
            </a:pPr>
            <a:fld id="{E35655CA-27EC-4F71-A9F3-37494F1A020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307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5A2549F7-9FCA-4161-B9C6-BF7B1C29E9EC}" type="datetime1">
              <a:rPr lang="fr-FR"/>
              <a:pPr>
                <a:defRPr/>
              </a:pPr>
              <a:t>04/11/2024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898989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fld id="{E00C0902-9B88-4CB4-8CAA-26A21F7B4E4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ftr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68000" y="3468901"/>
            <a:ext cx="7772400" cy="1341224"/>
          </a:xfrm>
        </p:spPr>
        <p:txBody>
          <a:bodyPr/>
          <a:lstStyle/>
          <a:p>
            <a:r>
              <a:rPr lang="fr-FR" sz="3600" dirty="0" err="1"/>
              <a:t>Themodynamics</a:t>
            </a:r>
            <a:r>
              <a:rPr lang="fr-FR" sz="3600" dirty="0"/>
              <a:t> </a:t>
            </a:r>
            <a:r>
              <a:rPr lang="fr-FR" sz="3600" dirty="0" err="1"/>
              <a:t>Energy</a:t>
            </a:r>
            <a:r>
              <a:rPr lang="fr-FR" sz="3600" dirty="0"/>
              <a:t> System </a:t>
            </a:r>
            <a:r>
              <a:rPr lang="fr-FR" sz="3600" dirty="0" err="1"/>
              <a:t>Modelling</a:t>
            </a:r>
            <a:r>
              <a:rPr lang="fr-FR" sz="3600" dirty="0"/>
              <a:t> (TESM) course</a:t>
            </a:r>
            <a:endParaRPr lang="fr-FR" sz="3600" i="1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2019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6E6139BF-F754-49C5-9D32-F2FA785EB4AF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  <p:sp>
        <p:nvSpPr>
          <p:cNvPr id="5" name="ZoneTexte 4"/>
          <p:cNvSpPr txBox="1"/>
          <p:nvPr>
            <p:custDataLst>
              <p:tags r:id="rId4"/>
            </p:custDataLst>
          </p:nvPr>
        </p:nvSpPr>
        <p:spPr>
          <a:xfrm>
            <a:off x="468000" y="3051945"/>
            <a:ext cx="2292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Cong</a:t>
            </a:r>
            <a:r>
              <a:rPr lang="fr-FR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20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Toan</a:t>
            </a:r>
            <a:r>
              <a:rPr lang="fr-FR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Energy</a:t>
            </a:r>
            <a:r>
              <a:rPr lang="fr-FR" dirty="0"/>
              <a:t> </a:t>
            </a:r>
            <a:r>
              <a:rPr lang="en-GB" dirty="0"/>
              <a:t>systems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4788310"/>
            <a:ext cx="5760000" cy="1177653"/>
          </a:xfrm>
        </p:spPr>
        <p:txBody>
          <a:bodyPr/>
          <a:lstStyle/>
          <a:p>
            <a:r>
              <a:rPr lang="fr-FR" dirty="0" err="1"/>
              <a:t>Energy</a:t>
            </a:r>
            <a:r>
              <a:rPr lang="fr-FR" dirty="0"/>
              <a:t> </a:t>
            </a:r>
            <a:r>
              <a:rPr lang="fr-FR" dirty="0" err="1"/>
              <a:t>systems</a:t>
            </a:r>
            <a:r>
              <a:rPr lang="fr-FR" dirty="0"/>
              <a:t> are </a:t>
            </a:r>
            <a:r>
              <a:rPr lang="fr-FR" dirty="0" err="1"/>
              <a:t>everywhere</a:t>
            </a:r>
            <a:endParaRPr lang="fr-FR" dirty="0"/>
          </a:p>
          <a:p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provide</a:t>
            </a:r>
            <a:r>
              <a:rPr lang="fr-FR" dirty="0"/>
              <a:t> </a:t>
            </a:r>
            <a:r>
              <a:rPr lang="fr-FR" dirty="0" err="1"/>
              <a:t>fundamental</a:t>
            </a:r>
            <a:r>
              <a:rPr lang="fr-FR" dirty="0"/>
              <a:t> </a:t>
            </a:r>
            <a:r>
              <a:rPr lang="en-GB" dirty="0"/>
              <a:t>needs of the life</a:t>
            </a:r>
          </a:p>
          <a:p>
            <a:r>
              <a:rPr lang="en-GB" dirty="0"/>
              <a:t>But, are the main greenhouse gas emitters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pic>
        <p:nvPicPr>
          <p:cNvPr id="6" name="Picture 2" descr="Afficher l'image d'origin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4814" y="1200846"/>
            <a:ext cx="7988709" cy="31422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40947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Objectives of the course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323272" y="1068772"/>
            <a:ext cx="7513037" cy="5378209"/>
          </a:xfrm>
        </p:spPr>
        <p:txBody>
          <a:bodyPr/>
          <a:lstStyle/>
          <a:p>
            <a:r>
              <a:rPr lang="fr-FR" sz="2400" dirty="0"/>
              <a:t>Objectives:</a:t>
            </a:r>
          </a:p>
          <a:p>
            <a:pPr lvl="1"/>
            <a:r>
              <a:rPr lang="fr-FR" sz="2000" dirty="0" err="1"/>
              <a:t>Working</a:t>
            </a:r>
            <a:r>
              <a:rPr lang="fr-FR" sz="2000" dirty="0"/>
              <a:t> </a:t>
            </a:r>
            <a:r>
              <a:rPr lang="fr-FR" sz="2000" dirty="0" err="1"/>
              <a:t>principle</a:t>
            </a:r>
            <a:r>
              <a:rPr lang="fr-FR" sz="2000" dirty="0"/>
              <a:t> of </a:t>
            </a:r>
            <a:r>
              <a:rPr lang="fr-FR" sz="2000" dirty="0" err="1"/>
              <a:t>thermodynamics</a:t>
            </a:r>
            <a:r>
              <a:rPr lang="fr-FR" sz="2000" dirty="0"/>
              <a:t> </a:t>
            </a:r>
            <a:r>
              <a:rPr lang="fr-FR" sz="2000" dirty="0" err="1"/>
              <a:t>energy</a:t>
            </a:r>
            <a:r>
              <a:rPr lang="fr-FR" sz="2000" dirty="0"/>
              <a:t> système</a:t>
            </a:r>
          </a:p>
          <a:p>
            <a:pPr lvl="1"/>
            <a:r>
              <a:rPr lang="fr-FR" sz="2000" dirty="0"/>
              <a:t>Performance </a:t>
            </a:r>
            <a:r>
              <a:rPr lang="fr-FR" sz="2000" dirty="0" err="1"/>
              <a:t>analysis</a:t>
            </a:r>
            <a:r>
              <a:rPr lang="fr-FR" sz="2000" dirty="0"/>
              <a:t> </a:t>
            </a:r>
            <a:r>
              <a:rPr lang="fr-FR" sz="2000" dirty="0" err="1"/>
              <a:t>methods</a:t>
            </a:r>
            <a:endParaRPr lang="fr-FR" sz="2000" dirty="0"/>
          </a:p>
          <a:p>
            <a:pPr lvl="1"/>
            <a:r>
              <a:rPr lang="fr-FR" sz="2000" dirty="0"/>
              <a:t>System design</a:t>
            </a:r>
          </a:p>
          <a:p>
            <a:pPr lvl="1"/>
            <a:r>
              <a:rPr lang="fr-FR" sz="2000" dirty="0" err="1"/>
              <a:t>Stationary</a:t>
            </a:r>
            <a:r>
              <a:rPr lang="fr-FR" sz="2000" dirty="0"/>
              <a:t> and </a:t>
            </a:r>
            <a:r>
              <a:rPr lang="fr-FR" sz="2000" dirty="0" err="1"/>
              <a:t>dynamic</a:t>
            </a:r>
            <a:r>
              <a:rPr lang="fr-FR" sz="2000" dirty="0"/>
              <a:t> simulation</a:t>
            </a:r>
          </a:p>
          <a:p>
            <a:pPr lvl="1"/>
            <a:r>
              <a:rPr lang="fr-FR" sz="2000" dirty="0"/>
              <a:t>Performance </a:t>
            </a:r>
            <a:r>
              <a:rPr lang="fr-FR" sz="2000" dirty="0" err="1"/>
              <a:t>improvement</a:t>
            </a:r>
            <a:r>
              <a:rPr lang="fr-FR" sz="2000" dirty="0"/>
              <a:t> via the </a:t>
            </a:r>
            <a:r>
              <a:rPr lang="fr-FR" sz="2000" dirty="0" err="1"/>
              <a:t>exergy</a:t>
            </a:r>
            <a:r>
              <a:rPr lang="fr-FR" sz="2000" dirty="0"/>
              <a:t> </a:t>
            </a:r>
            <a:r>
              <a:rPr lang="fr-FR" sz="2000" dirty="0" err="1"/>
              <a:t>analysis</a:t>
            </a:r>
            <a:endParaRPr lang="fr-FR" sz="2000" dirty="0"/>
          </a:p>
          <a:p>
            <a:pPr>
              <a:defRPr/>
            </a:pPr>
            <a:endParaRPr lang="fr-FR" sz="2400" dirty="0"/>
          </a:p>
          <a:p>
            <a:pPr>
              <a:defRPr/>
            </a:pPr>
            <a:r>
              <a:rPr lang="fr-FR" sz="2400" dirty="0"/>
              <a:t>Cycles to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studied</a:t>
            </a:r>
            <a:r>
              <a:rPr lang="fr-FR" sz="2400" dirty="0"/>
              <a:t>:</a:t>
            </a:r>
          </a:p>
          <a:p>
            <a:pPr lvl="1">
              <a:defRPr/>
            </a:pPr>
            <a:r>
              <a:rPr lang="fr-FR" sz="2000" dirty="0" err="1"/>
              <a:t>Refrigeration</a:t>
            </a:r>
            <a:r>
              <a:rPr lang="fr-FR" sz="2000" dirty="0"/>
              <a:t> and </a:t>
            </a:r>
            <a:r>
              <a:rPr lang="fr-FR" sz="2000" dirty="0" err="1"/>
              <a:t>heat</a:t>
            </a:r>
            <a:r>
              <a:rPr lang="fr-FR" sz="2000" dirty="0"/>
              <a:t> </a:t>
            </a:r>
            <a:r>
              <a:rPr lang="fr-FR" sz="2000" dirty="0" err="1"/>
              <a:t>pumps</a:t>
            </a:r>
            <a:r>
              <a:rPr lang="fr-FR" sz="2000" dirty="0"/>
              <a:t> (HVAC)</a:t>
            </a:r>
          </a:p>
          <a:p>
            <a:pPr lvl="1">
              <a:defRPr/>
            </a:pPr>
            <a:r>
              <a:rPr lang="fr-FR" sz="2000" dirty="0"/>
              <a:t>Gaz turbine</a:t>
            </a:r>
          </a:p>
          <a:p>
            <a:pPr lvl="1">
              <a:defRPr/>
            </a:pPr>
            <a:r>
              <a:rPr lang="fr-FR" sz="2000" dirty="0"/>
              <a:t>Water </a:t>
            </a:r>
            <a:r>
              <a:rPr lang="fr-FR" sz="2000" dirty="0" err="1"/>
              <a:t>steam</a:t>
            </a:r>
            <a:r>
              <a:rPr lang="fr-FR" sz="2000" dirty="0"/>
              <a:t> cycle</a:t>
            </a:r>
          </a:p>
          <a:p>
            <a:pPr lvl="1">
              <a:defRPr/>
            </a:pPr>
            <a:r>
              <a:rPr lang="fr-FR" sz="2000" dirty="0" err="1"/>
              <a:t>Combined</a:t>
            </a:r>
            <a:r>
              <a:rPr lang="fr-FR" sz="2000" dirty="0"/>
              <a:t> cycles</a:t>
            </a:r>
          </a:p>
          <a:p>
            <a:pPr lvl="1">
              <a:defRPr/>
            </a:pPr>
            <a:r>
              <a:rPr lang="fr-FR" sz="2000" dirty="0" err="1"/>
              <a:t>Cogeneration</a:t>
            </a:r>
            <a:endParaRPr lang="fr-FR" sz="2000" dirty="0"/>
          </a:p>
          <a:p>
            <a:pPr lvl="1">
              <a:defRPr/>
            </a:pPr>
            <a:r>
              <a:rPr lang="fr-FR" sz="2000" dirty="0"/>
              <a:t>+ </a:t>
            </a:r>
            <a:r>
              <a:rPr lang="fr-FR" sz="2000" dirty="0" err="1"/>
              <a:t>others</a:t>
            </a:r>
            <a:r>
              <a:rPr lang="fr-FR" sz="2000" dirty="0"/>
              <a:t> </a:t>
            </a:r>
            <a:r>
              <a:rPr lang="fr-FR" sz="2000" dirty="0" err="1"/>
              <a:t>during</a:t>
            </a:r>
            <a:r>
              <a:rPr lang="fr-FR" sz="2000" dirty="0"/>
              <a:t> the </a:t>
            </a:r>
            <a:r>
              <a:rPr lang="fr-FR" sz="2000" dirty="0" err="1"/>
              <a:t>project</a:t>
            </a:r>
            <a:r>
              <a:rPr lang="fr-FR" sz="2000" dirty="0"/>
              <a:t> sessions</a:t>
            </a:r>
          </a:p>
          <a:p>
            <a:pPr marL="457200" lvl="1" indent="0">
              <a:buNone/>
            </a:pP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Planning …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Evaluation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1164658"/>
            <a:ext cx="5760000" cy="4801306"/>
          </a:xfrm>
        </p:spPr>
        <p:txBody>
          <a:bodyPr/>
          <a:lstStyle/>
          <a:p>
            <a:r>
              <a:rPr lang="en-US" dirty="0"/>
              <a:t>Multiple choice examination (/50):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Totally based on the course’s contents</a:t>
            </a:r>
          </a:p>
          <a:p>
            <a:pPr lvl="1"/>
            <a:r>
              <a:rPr lang="en-US" dirty="0"/>
              <a:t>Description of the studied thermodynamics cycles</a:t>
            </a:r>
          </a:p>
          <a:p>
            <a:pPr lvl="1"/>
            <a:r>
              <a:rPr lang="en-US" dirty="0"/>
              <a:t>Comparison between ideal and real cycles </a:t>
            </a:r>
          </a:p>
          <a:p>
            <a:pPr lvl="1"/>
            <a:r>
              <a:rPr lang="en-US" dirty="0"/>
              <a:t>Calculation of system efficiencies</a:t>
            </a:r>
          </a:p>
          <a:p>
            <a:pPr lvl="1"/>
            <a:r>
              <a:rPr lang="en-US" dirty="0" err="1"/>
              <a:t>Exergetic</a:t>
            </a:r>
            <a:r>
              <a:rPr lang="en-US" dirty="0"/>
              <a:t> analysis</a:t>
            </a:r>
          </a:p>
          <a:p>
            <a:pPr lvl="1"/>
            <a:r>
              <a:rPr lang="en-US" dirty="0"/>
              <a:t>Model development in </a:t>
            </a:r>
            <a:r>
              <a:rPr lang="en-US" dirty="0" err="1"/>
              <a:t>OpenModelica</a:t>
            </a:r>
            <a:endParaRPr lang="en-US" dirty="0"/>
          </a:p>
          <a:p>
            <a:pPr lvl="1">
              <a:buNone/>
            </a:pPr>
            <a:r>
              <a:rPr lang="en-US" i="1" u="sng" dirty="0"/>
              <a:t>The course materials allowed during the examination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Project (/40):</a:t>
            </a:r>
          </a:p>
          <a:p>
            <a:pPr lvl="1"/>
            <a:r>
              <a:rPr lang="en-US" dirty="0"/>
              <a:t>Writing report</a:t>
            </a:r>
          </a:p>
          <a:p>
            <a:pPr lvl="1"/>
            <a:r>
              <a:rPr lang="en-US" dirty="0"/>
              <a:t>Simulation model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Course attendance (/10): </a:t>
            </a:r>
          </a:p>
          <a:p>
            <a:pPr lvl="1"/>
            <a:r>
              <a:rPr lang="en-US" dirty="0"/>
              <a:t>Lectures</a:t>
            </a:r>
          </a:p>
          <a:p>
            <a:pPr lvl="1"/>
            <a:r>
              <a:rPr lang="en-US" dirty="0"/>
              <a:t>Exercise sessions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  <p:sp>
        <p:nvSpPr>
          <p:cNvPr id="9218" name="AutoShape 2" descr="Résultat de recherche d'images pour &quot;report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0" name="AutoShape 4" descr="Résultat de recherche d'images pour &quot;report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222" name="Picture 6" descr="Afficher l'image d'origine"/>
          <p:cNvPicPr>
            <a:picLocks noChangeAspect="1" noChangeArrowheads="1"/>
          </p:cNvPicPr>
          <p:nvPr/>
        </p:nvPicPr>
        <p:blipFill>
          <a:blip r:embed="rId2"/>
          <a:srcRect l="14318" t="18065" r="11723" b="12011"/>
          <a:stretch>
            <a:fillRect/>
          </a:stretch>
        </p:blipFill>
        <p:spPr bwMode="auto">
          <a:xfrm>
            <a:off x="5939465" y="3859731"/>
            <a:ext cx="1643885" cy="1212641"/>
          </a:xfrm>
          <a:prstGeom prst="rect">
            <a:avLst/>
          </a:prstGeom>
          <a:noFill/>
        </p:spPr>
      </p:pic>
      <p:pic>
        <p:nvPicPr>
          <p:cNvPr id="19458" name="Picture 2" descr="RÃ©sultat de recherche d'images pour &quot;multiple choice exam on pc&quot;"/>
          <p:cNvPicPr>
            <a:picLocks noChangeAspect="1" noChangeArrowheads="1"/>
          </p:cNvPicPr>
          <p:nvPr/>
        </p:nvPicPr>
        <p:blipFill>
          <a:blip r:embed="rId3"/>
          <a:srcRect l="17931" t="49118" r="60045" b="19863"/>
          <a:stretch>
            <a:fillRect/>
          </a:stretch>
        </p:blipFill>
        <p:spPr bwMode="auto">
          <a:xfrm>
            <a:off x="6421857" y="1440000"/>
            <a:ext cx="2322985" cy="1840339"/>
          </a:xfrm>
          <a:prstGeom prst="rect">
            <a:avLst/>
          </a:prstGeom>
          <a:noFill/>
        </p:spPr>
      </p:pic>
      <p:pic>
        <p:nvPicPr>
          <p:cNvPr id="19460" name="Picture 4" descr="Raised hand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57334" y="5311561"/>
            <a:ext cx="1751902" cy="11785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9063F8-6096-4711-8C15-FC49327AF2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Multiple choice examination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A4A55A1-45F4-4D51-B0A1-186302E310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0B835F-4991-483B-882D-42753DEA071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2000" y="914402"/>
            <a:ext cx="7283394" cy="5476972"/>
          </a:xfrm>
        </p:spPr>
        <p:txBody>
          <a:bodyPr/>
          <a:lstStyle/>
          <a:p>
            <a:r>
              <a:rPr lang="en-US" dirty="0"/>
              <a:t>Exam on the platform Moodle</a:t>
            </a:r>
          </a:p>
          <a:p>
            <a:endParaRPr lang="en-US" dirty="0"/>
          </a:p>
          <a:p>
            <a:r>
              <a:rPr lang="en-US" dirty="0"/>
              <a:t>The course materials allowed</a:t>
            </a:r>
          </a:p>
          <a:p>
            <a:endParaRPr lang="en-US" dirty="0"/>
          </a:p>
          <a:p>
            <a:r>
              <a:rPr lang="en-US" dirty="0"/>
              <a:t>No question about </a:t>
            </a:r>
            <a:r>
              <a:rPr lang="en-US" dirty="0" err="1"/>
              <a:t>OpenModelica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Evaluation: </a:t>
            </a:r>
          </a:p>
          <a:p>
            <a:pPr lvl="1"/>
            <a:r>
              <a:rPr lang="en-US" dirty="0"/>
              <a:t>One question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one point, except clearly specified otherwise</a:t>
            </a:r>
          </a:p>
          <a:p>
            <a:pPr lvl="1"/>
            <a:r>
              <a:rPr lang="en-US" dirty="0"/>
              <a:t>No “penalty” point for a wrong answer</a:t>
            </a:r>
          </a:p>
          <a:p>
            <a:pPr lvl="1"/>
            <a:endParaRPr lang="en-US" dirty="0"/>
          </a:p>
          <a:p>
            <a:r>
              <a:rPr lang="en-US" dirty="0"/>
              <a:t>How to give answers: </a:t>
            </a:r>
          </a:p>
          <a:p>
            <a:pPr lvl="1"/>
            <a:r>
              <a:rPr lang="en-US" dirty="0"/>
              <a:t>If a question allows more than one answer choices, it has more than one correct answer</a:t>
            </a:r>
          </a:p>
          <a:p>
            <a:pPr lvl="1"/>
            <a:r>
              <a:rPr lang="en-US" dirty="0"/>
              <a:t>If it is required to provide a numerical value, write at lease 3 significant digits</a:t>
            </a:r>
          </a:p>
          <a:p>
            <a:pPr lvl="1"/>
            <a:r>
              <a:rPr lang="en-US" dirty="0"/>
              <a:t>Both the point “.” and the comma “,” can be used for a decimal sign</a:t>
            </a:r>
          </a:p>
          <a:p>
            <a:pPr lvl="1"/>
            <a:r>
              <a:rPr lang="en-US" dirty="0"/>
              <a:t>You can pass a question, and come back later</a:t>
            </a:r>
          </a:p>
          <a:p>
            <a:pPr lvl="1"/>
            <a:r>
              <a:rPr lang="en-US" dirty="0"/>
              <a:t>Answers can be changed, before the time runs out</a:t>
            </a:r>
          </a:p>
          <a:p>
            <a:pPr lvl="1"/>
            <a:endParaRPr lang="en-US" dirty="0"/>
          </a:p>
          <a:p>
            <a:r>
              <a:rPr lang="en-US" dirty="0"/>
              <a:t>Fluid property calculator: https://irc.wisc.edu/properties/</a:t>
            </a:r>
          </a:p>
          <a:p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3B2198-7AFF-4D16-89E6-D947365CC0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Course </a:t>
            </a:r>
            <a:r>
              <a:rPr lang="fr-FR" dirty="0" err="1"/>
              <a:t>materials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1999" y="1228437"/>
            <a:ext cx="7134945" cy="4239490"/>
          </a:xfrm>
        </p:spPr>
        <p:txBody>
          <a:bodyPr/>
          <a:lstStyle/>
          <a:p>
            <a:r>
              <a:rPr lang="en-US" dirty="0"/>
              <a:t>Slides</a:t>
            </a:r>
          </a:p>
          <a:p>
            <a:r>
              <a:rPr lang="en-US" dirty="0"/>
              <a:t>Exercises</a:t>
            </a:r>
          </a:p>
          <a:p>
            <a:r>
              <a:rPr lang="en-US" dirty="0"/>
              <a:t>Library «  </a:t>
            </a:r>
            <a:r>
              <a:rPr lang="en-US" dirty="0" err="1"/>
              <a:t>EnergySystems</a:t>
            </a:r>
            <a:r>
              <a:rPr lang="en-US" dirty="0"/>
              <a:t>»</a:t>
            </a:r>
          </a:p>
          <a:p>
            <a:r>
              <a:rPr lang="en-US" dirty="0"/>
              <a:t>And the book Thermodynamics Energy System Modelling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check the shared folder on Cloud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!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idx="13"/>
          </p:nvPr>
        </p:nvSpPr>
        <p:spPr>
          <a:xfrm>
            <a:off x="522000" y="2415941"/>
            <a:ext cx="6668072" cy="3550022"/>
          </a:xfrm>
        </p:spPr>
        <p:txBody>
          <a:bodyPr/>
          <a:lstStyle/>
          <a:p>
            <a:r>
              <a:rPr lang="en-US" b="1" dirty="0"/>
              <a:t>For any questions </a:t>
            </a:r>
            <a:r>
              <a:rPr lang="en-US" b="1" dirty="0">
                <a:sym typeface="Wingdings" pitchFamily="2" charset="2"/>
              </a:rPr>
              <a:t></a:t>
            </a:r>
            <a:r>
              <a:rPr lang="en-US" b="1" dirty="0"/>
              <a:t> cong-toan.tran@mines-paristech.fr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35655CA-27EC-4F71-A9F3-37494F1A0208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10481</TotalTime>
  <Words>316</Words>
  <Application>Microsoft Office PowerPoint</Application>
  <PresentationFormat>Affichage à l'écran (4:3)</PresentationFormat>
  <Paragraphs>80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ＭＳ Ｐゴシック</vt:lpstr>
      <vt:lpstr>Arial</vt:lpstr>
      <vt:lpstr>Calibri</vt:lpstr>
      <vt:lpstr>Lucida Grande</vt:lpstr>
      <vt:lpstr>Wingdings</vt:lpstr>
      <vt:lpstr>Thème Office</vt:lpstr>
      <vt:lpstr>Themodynamics Energy System Modelling (TESM) course</vt:lpstr>
      <vt:lpstr>Energy systems</vt:lpstr>
      <vt:lpstr>Objectives of the course</vt:lpstr>
      <vt:lpstr>Planning …</vt:lpstr>
      <vt:lpstr>Evaluation</vt:lpstr>
      <vt:lpstr>Multiple choice examination</vt:lpstr>
      <vt:lpstr>Course materials</vt:lpstr>
      <vt:lpstr>Thank you !</vt:lpstr>
    </vt:vector>
  </TitlesOfParts>
  <Company>oko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présentation</dc:title>
  <dc:creator>oko</dc:creator>
  <cp:lastModifiedBy>Cong Toan TRAN</cp:lastModifiedBy>
  <cp:revision>570</cp:revision>
  <dcterms:created xsi:type="dcterms:W3CDTF">2011-06-21T08:31:57Z</dcterms:created>
  <dcterms:modified xsi:type="dcterms:W3CDTF">2024-11-04T11:21:22Z</dcterms:modified>
</cp:coreProperties>
</file>