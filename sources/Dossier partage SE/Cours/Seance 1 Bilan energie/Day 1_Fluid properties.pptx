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2" r:id="rId3"/>
    <p:sldId id="285" r:id="rId4"/>
    <p:sldId id="279" r:id="rId5"/>
    <p:sldId id="280" r:id="rId6"/>
    <p:sldId id="286" r:id="rId7"/>
    <p:sldId id="287" r:id="rId8"/>
    <p:sldId id="288" r:id="rId9"/>
    <p:sldId id="289" r:id="rId10"/>
    <p:sldId id="290" r:id="rId11"/>
    <p:sldId id="275" r:id="rId12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56">
          <p15:clr>
            <a:srgbClr val="A4A3A4"/>
          </p15:clr>
        </p15:guide>
        <p15:guide id="3" orient="horz" pos="2596">
          <p15:clr>
            <a:srgbClr val="A4A3A4"/>
          </p15:clr>
        </p15:guide>
        <p15:guide id="4" pos="2881">
          <p15:clr>
            <a:srgbClr val="A4A3A4"/>
          </p15:clr>
        </p15:guide>
        <p15:guide id="5" pos="113">
          <p15:clr>
            <a:srgbClr val="A4A3A4"/>
          </p15:clr>
        </p15:guide>
        <p15:guide id="6" pos="5648">
          <p15:clr>
            <a:srgbClr val="A4A3A4"/>
          </p15:clr>
        </p15:guide>
        <p15:guide id="7" pos="3958">
          <p15:clr>
            <a:srgbClr val="A4A3A4"/>
          </p15:clr>
        </p15:guide>
        <p15:guide id="8" pos="41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AN Cong-Toan" initials="CTT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9E"/>
    <a:srgbClr val="9C9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8889" autoAdjust="0"/>
  </p:normalViewPr>
  <p:slideViewPr>
    <p:cSldViewPr snapToGrid="0" snapToObjects="1">
      <p:cViewPr varScale="1">
        <p:scale>
          <a:sx n="98" d="100"/>
          <a:sy n="98" d="100"/>
        </p:scale>
        <p:origin x="1914" y="90"/>
      </p:cViewPr>
      <p:guideLst>
        <p:guide orient="horz" pos="2160"/>
        <p:guide orient="horz" pos="556"/>
        <p:guide orient="horz" pos="2596"/>
        <p:guide pos="2881"/>
        <p:guide pos="113"/>
        <p:guide pos="5648"/>
        <p:guide pos="3958"/>
        <p:guide pos="412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401A684-92B4-4640-B861-7B4000592903}" type="datetime1">
              <a:rPr lang="fr-FR"/>
              <a:pPr>
                <a:defRPr/>
              </a:pPr>
              <a:t>23/09/2026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0789C4F-2D15-4C71-B0A3-E3ADE593F79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24B1DE83-2637-4D6B-A1E8-19B1C893CA8F}" type="datetime1">
              <a:rPr lang="fr-FR"/>
              <a:pPr>
                <a:defRPr/>
              </a:pPr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1228F68-81A5-4523-B8EE-0AC3B0187C2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>
            <a:off x="457200" y="3454400"/>
            <a:ext cx="8509000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 userDrawn="1"/>
        </p:nvSpPr>
        <p:spPr>
          <a:xfrm>
            <a:off x="179388" y="3884613"/>
            <a:ext cx="179387" cy="179387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58250" y="3205163"/>
            <a:ext cx="107950" cy="107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701088" y="3205163"/>
            <a:ext cx="107950" cy="107950"/>
          </a:xfrm>
          <a:prstGeom prst="rect">
            <a:avLst/>
          </a:prstGeom>
          <a:solidFill>
            <a:srgbClr val="9C9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pic>
        <p:nvPicPr>
          <p:cNvPr id="7" name="Image 10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73500" y="546100"/>
            <a:ext cx="14001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3556312"/>
            <a:ext cx="7772400" cy="615553"/>
          </a:xfrm>
        </p:spPr>
        <p:txBody>
          <a:bodyPr lIns="0" tIns="0" rIns="0" bIns="0" anchor="b">
            <a:noAutofit/>
          </a:bodyPr>
          <a:lstStyle>
            <a:lvl1pPr algn="l">
              <a:defRPr sz="4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3109913"/>
            <a:ext cx="2133600" cy="234950"/>
          </a:xfrm>
        </p:spPr>
        <p:txBody>
          <a:bodyPr lIns="0" tIns="0" rIns="0" bIns="0" anchor="b"/>
          <a:lstStyle>
            <a:lvl1pPr algn="r">
              <a:defRPr>
                <a:solidFill>
                  <a:srgbClr val="9C9E9F"/>
                </a:solidFill>
              </a:defRPr>
            </a:lvl1pPr>
          </a:lstStyle>
          <a:p>
            <a:pPr>
              <a:defRPr/>
            </a:pPr>
            <a:fld id="{221BE6A0-76A7-402C-96FB-8AA654334B77}" type="datetime1">
              <a:rPr lang="fr-FR"/>
              <a:pPr>
                <a:defRPr/>
              </a:pPr>
              <a:t>23/09/2026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139BF-F754-49C5-9D32-F2FA785EB4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ndir un rectangle avec un coin diagonal 4"/>
          <p:cNvSpPr/>
          <p:nvPr userDrawn="1"/>
        </p:nvSpPr>
        <p:spPr>
          <a:xfrm>
            <a:off x="-17463" y="1023938"/>
            <a:ext cx="9296401" cy="5514975"/>
          </a:xfrm>
          <a:prstGeom prst="round2DiagRect">
            <a:avLst/>
          </a:prstGeom>
          <a:noFill/>
          <a:ln>
            <a:solidFill>
              <a:srgbClr val="9C9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701675"/>
            <a:ext cx="9144000" cy="5264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600075"/>
            <a:ext cx="7783513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9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40738" y="115888"/>
            <a:ext cx="52546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50802"/>
            <a:ext cx="7772400" cy="497020"/>
          </a:xfrm>
        </p:spPr>
        <p:txBody>
          <a:bodyPr lIns="0" tIns="0" rIns="0" bIns="0" anchor="b">
            <a:noAutofit/>
          </a:bodyPr>
          <a:lstStyle>
            <a:lvl1pPr algn="l">
              <a:defRPr sz="3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9388" y="702193"/>
            <a:ext cx="6102612" cy="212208"/>
          </a:xfrm>
        </p:spPr>
        <p:txBody>
          <a:bodyPr lIns="0" tIns="0" rIns="0" bIns="0" anchor="b">
            <a:noAutofit/>
          </a:bodyPr>
          <a:lstStyle>
            <a:lvl1pPr marL="271463" indent="-271463" algn="l">
              <a:buSzPct val="120000"/>
              <a:buFont typeface="Wingdings" charset="2"/>
              <a:buChar char=""/>
              <a:defRPr sz="1400">
                <a:solidFill>
                  <a:srgbClr val="005E9E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14" name="Espace réservé du contenu 2"/>
          <p:cNvSpPr>
            <a:spLocks noGrp="1"/>
          </p:cNvSpPr>
          <p:nvPr>
            <p:ph idx="13"/>
          </p:nvPr>
        </p:nvSpPr>
        <p:spPr>
          <a:xfrm>
            <a:off x="522000" y="1440000"/>
            <a:ext cx="5760000" cy="4525963"/>
          </a:xfrm>
        </p:spPr>
        <p:txBody>
          <a:bodyPr lIns="0" tIns="0" rIns="0" bIns="0">
            <a:noAutofit/>
          </a:bodyPr>
          <a:lstStyle>
            <a:lvl1pPr marL="271463" indent="-271463">
              <a:buClr>
                <a:srgbClr val="005E9E"/>
              </a:buClr>
              <a:buSzPct val="100000"/>
              <a:buFont typeface="Lucida Grande"/>
              <a:buChar char="•"/>
              <a:defRPr sz="17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  <a:lvl2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2pPr>
            <a:lvl3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3pPr>
            <a:lvl4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4pPr>
            <a:lvl5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4"/>
          </p:nvPr>
        </p:nvSpPr>
        <p:spPr>
          <a:xfrm>
            <a:off x="6832600" y="6297613"/>
            <a:ext cx="2133600" cy="365125"/>
          </a:xfrm>
        </p:spPr>
        <p:txBody>
          <a:bodyPr lIns="0" tIns="0" rIns="0" bIns="0" anchor="b"/>
          <a:lstStyle>
            <a:lvl1pPr>
              <a:defRPr/>
            </a:lvl1pPr>
          </a:lstStyle>
          <a:p>
            <a:pPr>
              <a:defRPr/>
            </a:pPr>
            <a:fld id="{E35655CA-27EC-4F71-A9F3-37494F1A020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307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A2549F7-9FCA-4161-B9C6-BF7B1C29E9EC}" type="datetime1">
              <a:rPr lang="fr-FR"/>
              <a:pPr>
                <a:defRPr/>
              </a:pPr>
              <a:t>23/09/2026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898989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fld id="{E00C0902-9B88-4CB4-8CAA-26A21F7B4E4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e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68000" y="3468901"/>
            <a:ext cx="7772400" cy="1341224"/>
          </a:xfrm>
        </p:spPr>
        <p:txBody>
          <a:bodyPr/>
          <a:lstStyle/>
          <a:p>
            <a:r>
              <a:rPr lang="fr-FR" sz="3600" dirty="0" err="1"/>
              <a:t>Themodynamics</a:t>
            </a:r>
            <a:r>
              <a:rPr lang="fr-FR" sz="3600" dirty="0"/>
              <a:t> </a:t>
            </a:r>
            <a:r>
              <a:rPr lang="fr-FR" sz="3600" dirty="0" err="1"/>
              <a:t>fluid</a:t>
            </a:r>
            <a:r>
              <a:rPr lang="fr-FR" sz="3600" dirty="0"/>
              <a:t> </a:t>
            </a:r>
            <a:r>
              <a:rPr lang="fr-FR" sz="3600" dirty="0" err="1"/>
              <a:t>properties</a:t>
            </a:r>
            <a:r>
              <a:rPr lang="fr-FR" sz="3600" dirty="0"/>
              <a:t> </a:t>
            </a:r>
            <a:br>
              <a:rPr lang="fr-FR" sz="3600" dirty="0"/>
            </a:br>
            <a:r>
              <a:rPr lang="fr-FR" sz="3600" dirty="0"/>
              <a:t>- Course TESM</a:t>
            </a:r>
            <a:endParaRPr lang="fr-FR" sz="3600" i="1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2022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6E6139BF-F754-49C5-9D32-F2FA785EB4AF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  <p:sp>
        <p:nvSpPr>
          <p:cNvPr id="5" name="ZoneTexte 4"/>
          <p:cNvSpPr txBox="1"/>
          <p:nvPr>
            <p:custDataLst>
              <p:tags r:id="rId4"/>
            </p:custDataLst>
          </p:nvPr>
        </p:nvSpPr>
        <p:spPr>
          <a:xfrm>
            <a:off x="468000" y="3051945"/>
            <a:ext cx="2292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Cong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Toan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Rappels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1999" y="4977353"/>
            <a:ext cx="6566957" cy="988610"/>
          </a:xfrm>
        </p:spPr>
        <p:txBody>
          <a:bodyPr/>
          <a:lstStyle/>
          <a:p>
            <a:r>
              <a:rPr lang="en-US" dirty="0"/>
              <a:t>An intensive property does not depend on the system size or the amount of material in the system</a:t>
            </a:r>
          </a:p>
          <a:p>
            <a:r>
              <a:rPr lang="en-US" dirty="0"/>
              <a:t>Extensive properties are additive for subsystems</a:t>
            </a:r>
            <a:endParaRPr lang="en-GB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graphicFrame>
        <p:nvGraphicFramePr>
          <p:cNvPr id="6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105276"/>
              </p:ext>
            </p:extLst>
          </p:nvPr>
        </p:nvGraphicFramePr>
        <p:xfrm>
          <a:off x="1304712" y="1215471"/>
          <a:ext cx="6360654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424">
                  <a:extLst>
                    <a:ext uri="{9D8B030D-6E8A-4147-A177-3AD203B41FA5}">
                      <a16:colId xmlns:a16="http://schemas.microsoft.com/office/drawing/2014/main" val="1776408525"/>
                    </a:ext>
                  </a:extLst>
                </a:gridCol>
                <a:gridCol w="1699012">
                  <a:extLst>
                    <a:ext uri="{9D8B030D-6E8A-4147-A177-3AD203B41FA5}">
                      <a16:colId xmlns:a16="http://schemas.microsoft.com/office/drawing/2014/main" val="1278785079"/>
                    </a:ext>
                  </a:extLst>
                </a:gridCol>
                <a:gridCol w="2120218">
                  <a:extLst>
                    <a:ext uri="{9D8B030D-6E8A-4147-A177-3AD203B41FA5}">
                      <a16:colId xmlns:a16="http://schemas.microsoft.com/office/drawing/2014/main" val="3183076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897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32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79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29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1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aseline="0" dirty="0"/>
                        <a:t>Entropy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J/K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646894"/>
                  </a:ext>
                </a:extLst>
              </a:tr>
              <a:tr h="3319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0" dirty="0"/>
                        <a:t>Internal energy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2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Specific heat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</a:t>
                      </a:r>
                      <a:r>
                        <a:rPr lang="en-GB" baseline="-25000" dirty="0" err="1"/>
                        <a:t>p</a:t>
                      </a:r>
                      <a:endParaRPr lang="en-GB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J/(K.kg)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566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Specific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56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11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Properties of a pure fluid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440000"/>
            <a:ext cx="4140928" cy="4525963"/>
          </a:xfrm>
        </p:spPr>
        <p:txBody>
          <a:bodyPr/>
          <a:lstStyle/>
          <a:p>
            <a:r>
              <a:rPr lang="en-GB" dirty="0"/>
              <a:t>2 common phases: </a:t>
            </a:r>
          </a:p>
          <a:p>
            <a:pPr lvl="1"/>
            <a:r>
              <a:rPr lang="en-GB" dirty="0" err="1"/>
              <a:t>Subcooling</a:t>
            </a:r>
            <a:r>
              <a:rPr lang="en-GB" dirty="0"/>
              <a:t> liquid</a:t>
            </a:r>
          </a:p>
          <a:p>
            <a:pPr lvl="1"/>
            <a:r>
              <a:rPr lang="en-GB" dirty="0"/>
              <a:t>Overheating liquid</a:t>
            </a:r>
          </a:p>
          <a:p>
            <a:pPr lvl="2"/>
            <a:r>
              <a:rPr lang="en-GB" dirty="0"/>
              <a:t>Diphasic</a:t>
            </a:r>
          </a:p>
          <a:p>
            <a:pPr lvl="1"/>
            <a:r>
              <a:rPr lang="en-GB" dirty="0"/>
              <a:t>(Supercritical phase)</a:t>
            </a:r>
          </a:p>
          <a:p>
            <a:r>
              <a:rPr lang="en-GB" dirty="0"/>
              <a:t>In a saturated mixture, </a:t>
            </a:r>
            <a:r>
              <a:rPr lang="en-GB" dirty="0" err="1"/>
              <a:t>vapor</a:t>
            </a:r>
            <a:r>
              <a:rPr lang="en-GB" dirty="0"/>
              <a:t> quality is: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For a given intensive variable z (such as specific enthalpy)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State equation = relation between state variables</a:t>
            </a:r>
          </a:p>
          <a:p>
            <a:pPr lvl="1"/>
            <a:r>
              <a:rPr lang="en-GB" dirty="0"/>
              <a:t>Perfect gas: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Real gas: 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2050" name="Picture 2" descr="File:Carbon dioxide pressure-temperature phase diagram-en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65" y="3384223"/>
            <a:ext cx="3475227" cy="327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62928" y="914401"/>
            <a:ext cx="3845957" cy="2603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612469"/>
              </p:ext>
            </p:extLst>
          </p:nvPr>
        </p:nvGraphicFramePr>
        <p:xfrm>
          <a:off x="1697114" y="3128962"/>
          <a:ext cx="895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5" imgW="895230" imgH="599947" progId="Equation.DSMT4">
                  <p:embed/>
                </p:oleObj>
              </mc:Choice>
              <mc:Fallback>
                <p:oleObj name="Equation" r:id="rId5" imgW="895230" imgH="5999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7114" y="3128962"/>
                        <a:ext cx="895350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868724"/>
              </p:ext>
            </p:extLst>
          </p:nvPr>
        </p:nvGraphicFramePr>
        <p:xfrm>
          <a:off x="1697114" y="4347437"/>
          <a:ext cx="16668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7" imgW="1667007" imgH="333560" progId="Equation.DSMT4">
                  <p:embed/>
                </p:oleObj>
              </mc:Choice>
              <mc:Fallback>
                <p:oleObj name="Equation" r:id="rId7" imgW="1667007" imgH="333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7114" y="4347437"/>
                        <a:ext cx="16668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289364"/>
              </p:ext>
            </p:extLst>
          </p:nvPr>
        </p:nvGraphicFramePr>
        <p:xfrm>
          <a:off x="2787781" y="5430402"/>
          <a:ext cx="885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Equation" r:id="rId9" imgW="885645" imgH="514350" progId="Equation.DSMT4">
                  <p:embed/>
                </p:oleObj>
              </mc:Choice>
              <mc:Fallback>
                <p:oleObj name="Equation" r:id="rId9" imgW="885645" imgH="5143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7781" y="5430402"/>
                        <a:ext cx="885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097800"/>
              </p:ext>
            </p:extLst>
          </p:nvPr>
        </p:nvGraphicFramePr>
        <p:xfrm>
          <a:off x="2411100" y="5965963"/>
          <a:ext cx="1943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tion" r:id="rId11" imgW="1943052" imgH="571543" progId="Equation.DSMT4">
                  <p:embed/>
                </p:oleObj>
              </mc:Choice>
              <mc:Fallback>
                <p:oleObj name="Equation" r:id="rId11" imgW="1943052" imgH="5715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11100" y="5965963"/>
                        <a:ext cx="1943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149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Degree of freedom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1999" y="1440000"/>
            <a:ext cx="8018685" cy="4525963"/>
          </a:xfrm>
        </p:spPr>
        <p:txBody>
          <a:bodyPr/>
          <a:lstStyle/>
          <a:p>
            <a:r>
              <a:rPr lang="en-US" dirty="0"/>
              <a:t>The number of degrees of freedom (F) is the number of intensive variables which are independent of each other.</a:t>
            </a:r>
            <a:endParaRPr lang="en-GB" dirty="0"/>
          </a:p>
          <a:p>
            <a:r>
              <a:rPr lang="en-GB" dirty="0"/>
              <a:t>Gibbs phase rule: </a:t>
            </a:r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dirty="0"/>
              <a:t>F degree of freedom</a:t>
            </a:r>
          </a:p>
          <a:p>
            <a:pPr lvl="1"/>
            <a:r>
              <a:rPr lang="en-GB" dirty="0"/>
              <a:t>N number of components</a:t>
            </a:r>
          </a:p>
          <a:p>
            <a:pPr lvl="1"/>
            <a:r>
              <a:rPr lang="en-GB" dirty="0">
                <a:latin typeface="Symbol" panose="05050102010706020507" pitchFamily="18" charset="2"/>
              </a:rPr>
              <a:t>F</a:t>
            </a:r>
            <a:r>
              <a:rPr lang="en-GB" dirty="0"/>
              <a:t> number of phases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376934" y="2416095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 = N – </a:t>
            </a:r>
            <a:r>
              <a:rPr lang="en-GB" dirty="0">
                <a:latin typeface="Symbol" panose="05050102010706020507" pitchFamily="18" charset="2"/>
              </a:rPr>
              <a:t>F</a:t>
            </a:r>
            <a:r>
              <a:rPr lang="en-GB" dirty="0"/>
              <a:t> + 2 </a:t>
            </a: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340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57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Degree of freedom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068772"/>
            <a:ext cx="4351658" cy="4897191"/>
          </a:xfrm>
        </p:spPr>
        <p:txBody>
          <a:bodyPr/>
          <a:lstStyle/>
          <a:p>
            <a:r>
              <a:rPr lang="en-GB" dirty="0"/>
              <a:t>Example: </a:t>
            </a:r>
          </a:p>
          <a:p>
            <a:pPr lvl="1"/>
            <a:r>
              <a:rPr lang="en-GB" dirty="0"/>
              <a:t>Single component / single phase : F = 2</a:t>
            </a:r>
          </a:p>
          <a:p>
            <a:pPr lvl="1"/>
            <a:r>
              <a:rPr lang="en-GB" dirty="0"/>
              <a:t>Single component / two phase : F = 1</a:t>
            </a:r>
          </a:p>
          <a:p>
            <a:pPr lvl="1"/>
            <a:r>
              <a:rPr lang="en-GB" dirty="0"/>
              <a:t>Single component / three phase : F = 0</a:t>
            </a:r>
          </a:p>
          <a:p>
            <a:pPr lvl="1"/>
            <a:r>
              <a:rPr lang="en-GB" dirty="0"/>
              <a:t>Binary system / single phase: F = 3</a:t>
            </a:r>
          </a:p>
          <a:p>
            <a:pPr lvl="1"/>
            <a:endParaRPr lang="en-GB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03" y="2774950"/>
            <a:ext cx="50958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5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 to calculate a thermodynamic property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440000"/>
            <a:ext cx="5760000" cy="1689699"/>
          </a:xfrm>
        </p:spPr>
        <p:txBody>
          <a:bodyPr/>
          <a:lstStyle/>
          <a:p>
            <a:r>
              <a:rPr lang="en-GB" dirty="0"/>
              <a:t>Calculate the degree of freedom</a:t>
            </a:r>
          </a:p>
          <a:p>
            <a:r>
              <a:rPr lang="en-GB" dirty="0"/>
              <a:t>Identify the appropriate state variables which are known</a:t>
            </a:r>
          </a:p>
          <a:p>
            <a:r>
              <a:rPr lang="en-GB" dirty="0"/>
              <a:t>Use one of the two following options: </a:t>
            </a:r>
          </a:p>
          <a:p>
            <a:pPr lvl="1"/>
            <a:r>
              <a:rPr lang="en-GB" dirty="0"/>
              <a:t>Property diagrams (P-T diagram, P-v diagram …)</a:t>
            </a:r>
          </a:p>
          <a:p>
            <a:pPr lvl="1"/>
            <a:r>
              <a:rPr lang="en-GB" dirty="0"/>
              <a:t>Programs which calculate the property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43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of p-h diagram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6" name="Picture 2" descr="REFRIGERANTS P-H DIAGRAM - Refrigeration - HVAC/R and Solar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13" y="971332"/>
            <a:ext cx="7321220" cy="565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86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of </a:t>
            </a:r>
            <a:r>
              <a:rPr lang="en-GB" dirty="0" err="1"/>
              <a:t>Refprop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4098" name="Picture 2" descr="https://img.informer.com/screenshots/4337/4337761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95" y="1123173"/>
            <a:ext cx="7241610" cy="444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A22057-15EE-40DF-A731-1D25F67CE426}"/>
              </a:ext>
            </a:extLst>
          </p:cNvPr>
          <p:cNvSpPr/>
          <p:nvPr/>
        </p:nvSpPr>
        <p:spPr>
          <a:xfrm>
            <a:off x="1018095" y="5885865"/>
            <a:ext cx="7316573" cy="6514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Estimate</a:t>
            </a:r>
            <a:r>
              <a:rPr lang="fr-FR" dirty="0"/>
              <a:t> the </a:t>
            </a:r>
            <a:r>
              <a:rPr lang="fr-FR" dirty="0" err="1"/>
              <a:t>cost</a:t>
            </a:r>
            <a:r>
              <a:rPr lang="fr-FR" dirty="0"/>
              <a:t> of </a:t>
            </a:r>
            <a:r>
              <a:rPr lang="fr-FR" dirty="0" err="1"/>
              <a:t>gas</a:t>
            </a:r>
            <a:r>
              <a:rPr lang="fr-FR" dirty="0"/>
              <a:t> to </a:t>
            </a:r>
            <a:r>
              <a:rPr lang="fr-FR" dirty="0" err="1"/>
              <a:t>heat</a:t>
            </a:r>
            <a:r>
              <a:rPr lang="fr-FR" dirty="0"/>
              <a:t> the water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during</a:t>
            </a:r>
            <a:r>
              <a:rPr lang="fr-FR" dirty="0"/>
              <a:t> a </a:t>
            </a:r>
            <a:r>
              <a:rPr lang="fr-FR" dirty="0" err="1"/>
              <a:t>shower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64853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EDAF7-C62D-41AC-B51F-3A6B19B09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Example of a free </a:t>
            </a:r>
            <a:r>
              <a:rPr lang="fr-FR" dirty="0" err="1"/>
              <a:t>tool</a:t>
            </a:r>
            <a:r>
              <a:rPr lang="fr-FR" dirty="0"/>
              <a:t> on Internet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62B207-5E53-4494-BE15-40140E01E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89AE03-C7D9-4A6B-B9EE-46ABC84E1F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5000017"/>
            <a:ext cx="5760000" cy="96594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FDC0D6-CB38-451A-9D5C-9C7DC71BAD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DB4F32-6271-4EBD-BE79-19CEC76B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349037"/>
            <a:ext cx="8012044" cy="340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8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D0EDF-015A-4F96-B531-FCF81359D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Example of </a:t>
            </a:r>
            <a:r>
              <a:rPr lang="fr-FR" dirty="0" err="1"/>
              <a:t>CoolProp</a:t>
            </a:r>
            <a:r>
              <a:rPr lang="fr-FR" dirty="0"/>
              <a:t> in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53C6E7-6353-4978-A497-C6F761DD5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F87CD0-4E32-4FCD-BFE1-A79397A51C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1440000"/>
            <a:ext cx="6802928" cy="4857613"/>
          </a:xfrm>
        </p:spPr>
        <p:txBody>
          <a:bodyPr/>
          <a:lstStyle/>
          <a:p>
            <a:r>
              <a:rPr lang="fr-FR" dirty="0" err="1"/>
              <a:t>Directly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CoolProp</a:t>
            </a:r>
            <a:r>
              <a:rPr lang="fr-FR" dirty="0"/>
              <a:t>: </a:t>
            </a:r>
          </a:p>
          <a:p>
            <a:endParaRPr lang="fr-FR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CoolProp.CoolProp</a:t>
            </a:r>
            <a:r>
              <a:rPr lang="en-US" dirty="0"/>
              <a:t> import </a:t>
            </a:r>
            <a:r>
              <a:rPr lang="en-US" dirty="0" err="1"/>
              <a:t>PropsSI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 = 1e5</a:t>
            </a:r>
          </a:p>
          <a:p>
            <a:pPr marL="0" indent="0">
              <a:buNone/>
            </a:pPr>
            <a:r>
              <a:rPr lang="en-US" dirty="0"/>
              <a:t>T= 10+273,15</a:t>
            </a:r>
            <a:br>
              <a:rPr lang="fr-FR" dirty="0"/>
            </a:br>
            <a:r>
              <a:rPr lang="fr-FR" dirty="0"/>
              <a:t>h = </a:t>
            </a:r>
            <a:r>
              <a:rPr lang="fr-FR" dirty="0" err="1"/>
              <a:t>PropsSI</a:t>
            </a:r>
            <a:r>
              <a:rPr lang="fr-FR" dirty="0"/>
              <a:t>("H", "P", p, ‘’T", T, ‘air’)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Or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Caldis</a:t>
            </a:r>
            <a:r>
              <a:rPr lang="fr-FR" dirty="0"/>
              <a:t> (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availlable</a:t>
            </a:r>
            <a:r>
              <a:rPr lang="fr-FR" dirty="0"/>
              <a:t> for certain </a:t>
            </a:r>
            <a:r>
              <a:rPr lang="fr-FR" dirty="0" err="1"/>
              <a:t>functions</a:t>
            </a:r>
            <a:r>
              <a:rPr lang="fr-FR" dirty="0"/>
              <a:t>):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caldis.fluids.coolprop_backend</a:t>
            </a:r>
            <a:r>
              <a:rPr lang="en-US" dirty="0"/>
              <a:t> import </a:t>
            </a:r>
            <a:r>
              <a:rPr lang="en-US" dirty="0" err="1"/>
              <a:t>CoolPropBackend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be_air</a:t>
            </a:r>
            <a:r>
              <a:rPr lang="en-US" dirty="0"/>
              <a:t> = </a:t>
            </a:r>
            <a:r>
              <a:rPr lang="en-US" dirty="0" err="1"/>
              <a:t>CoolPropBackend</a:t>
            </a:r>
            <a:r>
              <a:rPr lang="en-US" dirty="0"/>
              <a:t>("Air")</a:t>
            </a:r>
          </a:p>
          <a:p>
            <a:pPr marL="0" indent="0">
              <a:buNone/>
            </a:pPr>
            <a:r>
              <a:rPr lang="en-US" dirty="0"/>
              <a:t>p = 1e5</a:t>
            </a:r>
          </a:p>
          <a:p>
            <a:pPr marL="0" indent="0">
              <a:buNone/>
            </a:pPr>
            <a:r>
              <a:rPr lang="en-US" dirty="0"/>
              <a:t>T= 10+273,15</a:t>
            </a:r>
          </a:p>
          <a:p>
            <a:pPr marL="0" indent="0">
              <a:buNone/>
            </a:pPr>
            <a:r>
              <a:rPr lang="en-US" dirty="0" err="1"/>
              <a:t>be_air.h_pt</a:t>
            </a:r>
            <a:r>
              <a:rPr lang="en-US" dirty="0"/>
              <a:t>(p, T)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B668F-4C94-4FEC-8286-81BA8DB2C1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46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9C3C927-7DEA-444C-87DF-593F8F68659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11705</TotalTime>
  <Words>387</Words>
  <Application>Microsoft Office PowerPoint</Application>
  <PresentationFormat>Affichage à l'écran (4:3)</PresentationFormat>
  <Paragraphs>101</Paragraphs>
  <Slides>11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ＭＳ Ｐゴシック</vt:lpstr>
      <vt:lpstr>Arial</vt:lpstr>
      <vt:lpstr>Calibri</vt:lpstr>
      <vt:lpstr>Lucida Grande</vt:lpstr>
      <vt:lpstr>Symbol</vt:lpstr>
      <vt:lpstr>Wingdings</vt:lpstr>
      <vt:lpstr>Thème Office</vt:lpstr>
      <vt:lpstr>Equation</vt:lpstr>
      <vt:lpstr>Themodynamics fluid properties  - Course TESM</vt:lpstr>
      <vt:lpstr>Rappels</vt:lpstr>
      <vt:lpstr>Properties of a pure fluid</vt:lpstr>
      <vt:lpstr>Degree of freedom</vt:lpstr>
      <vt:lpstr>Degree of freedom</vt:lpstr>
      <vt:lpstr>How to calculate a thermodynamic property</vt:lpstr>
      <vt:lpstr>Example of p-h diagram</vt:lpstr>
      <vt:lpstr>Example of Refprop</vt:lpstr>
      <vt:lpstr>Example of a free tool on Internet</vt:lpstr>
      <vt:lpstr>Example of CoolProp in Python</vt:lpstr>
      <vt:lpstr>Thank you !</vt:lpstr>
    </vt:vector>
  </TitlesOfParts>
  <Company>oko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oko</dc:creator>
  <cp:lastModifiedBy>Cong Toan TRAN</cp:lastModifiedBy>
  <cp:revision>585</cp:revision>
  <dcterms:created xsi:type="dcterms:W3CDTF">2011-06-21T08:31:57Z</dcterms:created>
  <dcterms:modified xsi:type="dcterms:W3CDTF">2026-09-23T12:34:03Z</dcterms:modified>
</cp:coreProperties>
</file>